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ink/ink12.xml" ContentType="application/inkml+xml"/>
  <Override PartName="/ppt/ink/ink13.xml" ContentType="application/inkml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5" r:id="rId12"/>
    <p:sldId id="264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80" r:id="rId22"/>
    <p:sldId id="275" r:id="rId23"/>
    <p:sldId id="282" r:id="rId24"/>
    <p:sldId id="278" r:id="rId25"/>
    <p:sldId id="277" r:id="rId26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576"/>
    <a:srgbClr val="595959"/>
    <a:srgbClr val="F9BF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4"/>
    <p:restoredTop sz="94726"/>
  </p:normalViewPr>
  <p:slideViewPr>
    <p:cSldViewPr snapToGrid="0">
      <p:cViewPr varScale="1">
        <p:scale>
          <a:sx n="68" d="100"/>
          <a:sy n="68" d="100"/>
        </p:scale>
        <p:origin x="4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2:08:07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2:08:22.8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2:10:19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1:47:05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2:30:59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2:18:22.25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1 886 11221,'67'57'0,"1"1"0,-1-1 0,0 0 0,1 1 0,-1-1 0,-5 23 0,-5 14 0,-4-4 0,-1-24 0,-2-41 0,7-65 0,-2-52 0,-3-15 0,-5 19-1114,8 11 1,1 2 1113,-9 13 0,6-6 0,1 0 0,-3 5-350,2 3 1,-2 5-1,3-3 350,1 0 0,3-4 0,1 1 0,-2 7-265,4 4 0,-2 5 1,-1 1 264,19-17 0,-2 2 0,-4 3 0,-6 3 0,-26 19 0,0-1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2:18:22.72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1 732 11221,'75'60'0,"-22"-36"0,3 54-2118,-20-48 2118,-15 9 210,33 16-210,-28-12 0,27 4 0,-31-10 441,5-16-441,10 24 0,-5-22 0,32 13 0,-21-25 0,9-8 0,2-6 0,7-16-642,-4-6 1,11-7-1,-8 0 642,-12-1 0,1-5 0,11-9 0,11-10 0,2-2 0,-10 8 0,3-2 0,-2-3 0,-3-3 0,7-11 0,-1 0 0,-10 10 0,-6 6 0,-2 1 0,10-16 0,6-9 0,-12 11 0,-21 25 0,-2 3 0,19-20 0,1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2:18:23.1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1175 11221,'30'0'0,"7"0"0,9-8 0,-11 5 0,35-5 0,-36 8 0,22 17 0,0 21-1696,-8 31 0,-2 8 1696,5 4 0,-8-4 0,-9-5-644,-23-31 644,8 6-84,9 1 84,-7-17 0,16 14 0,-8-15 0,36 0 0,-21-10 0,55-12 0,-51-17 0,2-7 1129,21-15 0,4-5-1129,-4 4 0,5-11-439,-17-2 0,8-13 0,2-5 0,-1 1 0,-8 8 439,1 5 0,-6 5 0,6-10 0,1-6 0,9-11 0,4-8 0,-1 1 0,-5 4 0,-12 10-500,-1 2 0,-10 7 1,4-6 499,0 1 0,5-7 0,2-3 0,-4 3 0,-6 7 0,-6 1 0,-5 7 0,1-2 0,10-12 0,-1 0 0,0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2:18:23.96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1424 11221,'0'41'0,"0"4"0,9 10 0,2-10 0,3 9 0,0-1 0,-1-4 0,12 32 0,-23-51 0,16-10 0,-16-3 0,16-15 0,-16 7 0,14-9 0,4 0 0,-8 0 0,32 0 0,-29-9 0,55-19 0,-35-6 0,0-6-1696,9-1 0,2-2 1696,-1-11 0,3-14 0,-10 8 0,5-14 0,4-9 0,-1-1 0,-2 4 0,-5 12-757,3-5 1,-4 9 0,4-9 756,-3 4 0,6-11 0,2-4 0,0 1 0,-4 8 0,-7 15-81,2-1 0,1 9 81,8-1 0,8-1 0,-3 5 0,0 1 0,1 2 0,2 1 0,0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2:18:24.59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0 964 11221,'0'32'0,"0"-6"0,9-18 0,1 37 0,1-1 0,2 8 0,-1 6 0,-6-1 0,1 3-2060,15 22 1,2 1 2059,-13-12 0,1-1 0,5-4 0,2-2 136,-5-6 1,0-5-137,7 14 0,1-19 0,2-6 0,-2-19 0,15 3 0,-10-35 0,-5 7 0,23-24 0,-13 13 0,32-31 0,-21 11 0,30-22 0,-22 6 2229,15-17-2229,-13 14 0,3-8-312,-11 9 0,0-5 0,4-1 312,16-12 0,4-3 0,0-3-637,-13 11 0,1-2 1,-1 0-1,-2 3 637,6-5 0,-3 3 0,5-3 0,0 0 0,4-4 0,0 2 0,-7 9-231,5-5 0,0 3 231,-6 7 0,7-7 0,0 1 0,-12 12 0,-9 12 0,-4 4 84,20-18 1,-5 5 0,-16 19 0,0 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2:18:25.1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1675 11221,'19'21'0,"-9"4"0,-1-22 0,-9 5 0,0 18 0,0-11 0,0 47 0,0-37 0,0 38 0,9-31 0,2 6 0,17 15 0,-7-10 0,15 15 0,-6-11 0,8-17 0,-7-2 0,5-18 0,2-1 0,14-19 0,5-6 0,24-7-840,-13-11 1,10-12-1,-9 2 840,-17 5 0,2-6 0,-1 1 0,10-11 0,4-5 0,-3 3 0,-9 6 0,13-15 0,0-3 0,-9 9 0,8-11 0,5-5 0,-3 2 0,-6 9 0,4-3 0,-6 6 0,1-5 0,-2-3 0,1-7 0,0 1 0,-3 8-727,-1 8 1,-2 6 0,-5 0 726,4-20 0,-3 0 0,5-5 0,-4 2 0,-17 14 0,-3-2 0,14-24 0,1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2:21:28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2:21: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3:41:32.52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1 16383,'0'14'0,"0"7"0,0-1 0,0-1 0,0-1 0,0-9 0,0 0 0,0 0 0,0 0 0,0 0 0,0 4 0,0 2 0,0 3 0,0-4 0,0 0 0,0-5 0,0 4 0,0-2 0,0 2 0,0-4 0,0 0 0,0 0 0,0 0 0,0 0 0,0 0 0,0 0 0,0 0 0,0 0 0,0-1 0,0 5 0,0-2 0,0 2 0,0-4 0,0 0 0,0 0 0,0 0 0,0 0 0,0 0 0,0 0 0,0 0 0,0-8 0,0-10 0,0-2 0,0-6 0,0 8 0,0 0 0,0 0 0,0-1 0,0 5 0,0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18:06:52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3:48:57.27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 0 11221,'-10'20'0,"2"-3"0,-1-9 0,7-6 0,-6 6 0,8-8-848,0 0 0,8-8 0,3-2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3:58:38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1T23:53:41.52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 1 11221,'-19'0'0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442BB-A197-F6E9-0D38-DAA25048B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674344-A297-3413-2522-2EDB3176B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9DA32C-CCFC-E648-FF0B-A1E4F178E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0334F-57BF-B24F-9DF4-94A6081303C9}" type="datetimeFigureOut">
              <a:rPr kumimoji="1" lang="zh-SG" altLang="en-US" smtClean="0"/>
              <a:t>24/3/2026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06D52C-A5E4-49E6-95C7-127CE1ED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E8ABF-5223-BBCB-D384-440712C10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2AE4-C29D-1B40-BCFA-C8682334D1C2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03415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7D0A90-23D7-2402-2002-F51B6CB3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83C93A-63FC-B9CC-AA92-E1BFEF32E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0D2F85-9777-CF16-F30C-D3A6B4D1F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0334F-57BF-B24F-9DF4-94A6081303C9}" type="datetimeFigureOut">
              <a:rPr kumimoji="1" lang="zh-SG" altLang="en-US" smtClean="0"/>
              <a:t>24/3/2026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E3A8C8-EE60-468E-5340-B4E6A7951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CC6999-F029-FA34-270F-C3F3CA93B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2AE4-C29D-1B40-BCFA-C8682334D1C2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430535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65143E-E198-AABB-2EF7-183ED874E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F26255-E0C8-60AD-3D10-1C9216CB5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5CC1CB-2410-0754-9B28-13B0719B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0334F-57BF-B24F-9DF4-94A6081303C9}" type="datetimeFigureOut">
              <a:rPr kumimoji="1" lang="zh-SG" altLang="en-US" smtClean="0"/>
              <a:t>24/3/2026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21963E-D476-0A2C-A0F3-4A95BA9EE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80649F-73AA-EB45-21DF-35D06806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2AE4-C29D-1B40-BCFA-C8682334D1C2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093500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D8DDB-706A-4EBD-03F2-FCC377126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5EB96-867B-A5E9-5856-31A45F6F6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3B3081-7B6D-8A24-838F-B7C626157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00E74F-5AB6-7D06-A5DA-A900CB187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0334F-57BF-B24F-9DF4-94A6081303C9}" type="datetimeFigureOut">
              <a:rPr kumimoji="1" lang="zh-SG" altLang="en-US" smtClean="0"/>
              <a:t>24/3/2026</a:t>
            </a:fld>
            <a:endParaRPr kumimoji="1"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84368E-80E7-C6E2-3277-8B49AC3FF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5C5437-59F3-01AD-7F27-7553B81B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2AE4-C29D-1B40-BCFA-C8682334D1C2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809956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B8944E-DAE6-C5A7-A955-471414C64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27EDA6-EAD8-7EE7-5A18-D9C70A463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B42105-75A0-3FB8-370D-290561098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A0FE43-2181-6AC0-7079-DA49AA1074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7063BC-7100-4A0E-FE0C-4CF69DBF5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249B60-638A-27DE-68DF-EF6792EF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0334F-57BF-B24F-9DF4-94A6081303C9}" type="datetimeFigureOut">
              <a:rPr kumimoji="1" lang="zh-SG" altLang="en-US" smtClean="0"/>
              <a:t>24/3/2026</a:t>
            </a:fld>
            <a:endParaRPr kumimoji="1"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F22FB3-4797-B046-2F5A-0609AD196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BB4AB5E-BE68-AEFC-59C8-34A271062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2AE4-C29D-1B40-BCFA-C8682334D1C2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83949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E2987-056A-DE97-951A-8A2F9228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0577AF-82EF-6940-B1F8-D11273DCC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0334F-57BF-B24F-9DF4-94A6081303C9}" type="datetimeFigureOut">
              <a:rPr kumimoji="1" lang="zh-SG" altLang="en-US" smtClean="0"/>
              <a:t>24/3/2026</a:t>
            </a:fld>
            <a:endParaRPr kumimoji="1"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8BCAA9-B5D9-4998-29FC-8CC6A2F3E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0BFB25-E6CA-06E5-52BE-88914B58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2AE4-C29D-1B40-BCFA-C8682334D1C2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416566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4AB684-DE4B-AFF9-DF62-375F8E629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0334F-57BF-B24F-9DF4-94A6081303C9}" type="datetimeFigureOut">
              <a:rPr kumimoji="1" lang="zh-SG" altLang="en-US" smtClean="0"/>
              <a:t>24/3/2026</a:t>
            </a:fld>
            <a:endParaRPr kumimoji="1"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9AE3CDE-517D-6112-8D68-930CF3E9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F96004-05F1-FC8E-B8C3-02767262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2AE4-C29D-1B40-BCFA-C8682334D1C2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2890405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A2624A-6596-ACD9-4C6C-FB2EC2B75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1110EE-65CF-4852-3D3B-0947CA135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17C7C5-30F9-97C7-E02A-E1A2526CB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9ACB78-5CC6-A720-4609-96C11F64B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0334F-57BF-B24F-9DF4-94A6081303C9}" type="datetimeFigureOut">
              <a:rPr kumimoji="1" lang="zh-SG" altLang="en-US" smtClean="0"/>
              <a:t>24/3/2026</a:t>
            </a:fld>
            <a:endParaRPr kumimoji="1"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FD0691-A901-B8F4-55B1-E775DD0F3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D27BC7-D11C-D3F7-DD49-C4761041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2AE4-C29D-1B40-BCFA-C8682334D1C2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1324598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1EFB6-E4D3-9717-560A-A3D3E540F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312DC3-B545-2B42-6BEF-3820E3FB4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121667-9DCC-9B69-3137-6A1B5846C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FADDB2-BFCC-EFC0-A14A-68472D2E1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0334F-57BF-B24F-9DF4-94A6081303C9}" type="datetimeFigureOut">
              <a:rPr kumimoji="1" lang="zh-SG" altLang="en-US" smtClean="0"/>
              <a:t>24/3/2026</a:t>
            </a:fld>
            <a:endParaRPr kumimoji="1"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95ADA5-BF0A-3F0B-EB01-D3CC33BDF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D8A1C1-F066-14B8-7044-9E42EAC6C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2AE4-C29D-1B40-BCFA-C8682334D1C2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899452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5C6AE-46BC-C361-E8DB-4E803FD26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F347B8-68FD-84E7-47C4-4197A39B7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21F292-D721-E6F4-7D23-954136483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0334F-57BF-B24F-9DF4-94A6081303C9}" type="datetimeFigureOut">
              <a:rPr kumimoji="1" lang="zh-SG" altLang="en-US" smtClean="0"/>
              <a:t>24/3/2026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9252C2-8489-51D6-9796-2B671400D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C21529-5FEA-69DA-0E64-0C5AE7B76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2AE4-C29D-1B40-BCFA-C8682334D1C2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792234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E4EE83-D9A8-74FD-EFAE-515061050B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7F7717-7D56-8E5E-1903-F754DDEE1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0A8FF5-20D3-C88A-22B9-EADE9D00E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0334F-57BF-B24F-9DF4-94A6081303C9}" type="datetimeFigureOut">
              <a:rPr kumimoji="1" lang="zh-SG" altLang="en-US" smtClean="0"/>
              <a:t>24/3/2026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667644-D998-54E6-CBA3-035F34E1A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96D63A-945F-FB4B-DCCF-35567F27C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32AE4-C29D-1B40-BCFA-C8682334D1C2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3611297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10CBCE9-882F-E584-AD6A-3E3A040F9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7930B6-10F0-61DF-31CE-235618BE6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B6CF9C-F95A-4AF2-DC5E-92A233D7E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40334F-57BF-B24F-9DF4-94A6081303C9}" type="datetimeFigureOut">
              <a:rPr kumimoji="1" lang="zh-SG" altLang="en-US" smtClean="0"/>
              <a:t>24/3/2026</a:t>
            </a:fld>
            <a:endParaRPr kumimoji="1"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7529BE-B808-5E62-9559-3ACD3CA1E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1813A8-5D07-3B96-A5B5-7728F1C8F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32AE4-C29D-1B40-BCFA-C8682334D1C2}" type="slidenum">
              <a:rPr kumimoji="1" lang="zh-SG" altLang="en-US" smtClean="0"/>
              <a:t>‹#›</a:t>
            </a:fld>
            <a:endParaRPr kumimoji="1" lang="zh-SG" altLang="en-US"/>
          </a:p>
        </p:txBody>
      </p:sp>
    </p:spTree>
    <p:extLst>
      <p:ext uri="{BB962C8B-B14F-4D97-AF65-F5344CB8AC3E}">
        <p14:creationId xmlns:p14="http://schemas.microsoft.com/office/powerpoint/2010/main" val="408243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customXml" Target="../ink/ink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43.png"/><Relationship Id="rId18" Type="http://schemas.openxmlformats.org/officeDocument/2006/relationships/customXml" Target="../ink/ink11.xml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12" Type="http://schemas.openxmlformats.org/officeDocument/2006/relationships/customXml" Target="../ink/ink8.xml"/><Relationship Id="rId17" Type="http://schemas.openxmlformats.org/officeDocument/2006/relationships/image" Target="../media/image45.png"/><Relationship Id="rId2" Type="http://schemas.openxmlformats.org/officeDocument/2006/relationships/image" Target="../media/image4.jpg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11" Type="http://schemas.openxmlformats.org/officeDocument/2006/relationships/image" Target="../media/image42.png"/><Relationship Id="rId5" Type="http://schemas.openxmlformats.org/officeDocument/2006/relationships/image" Target="../media/image7.jpg"/><Relationship Id="rId15" Type="http://schemas.openxmlformats.org/officeDocument/2006/relationships/image" Target="../media/image44.png"/><Relationship Id="rId10" Type="http://schemas.openxmlformats.org/officeDocument/2006/relationships/customXml" Target="../ink/ink7.xml"/><Relationship Id="rId19" Type="http://schemas.openxmlformats.org/officeDocument/2006/relationships/image" Target="../media/image46.png"/><Relationship Id="rId4" Type="http://schemas.openxmlformats.org/officeDocument/2006/relationships/image" Target="../media/image6.jpg"/><Relationship Id="rId9" Type="http://schemas.openxmlformats.org/officeDocument/2006/relationships/image" Target="../media/image41.png"/><Relationship Id="rId14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4.xml"/><Relationship Id="rId7" Type="http://schemas.openxmlformats.org/officeDocument/2006/relationships/image" Target="../media/image1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customXml" Target="../ink/ink13.xm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customXml" Target="../ink/ink12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3" Type="http://schemas.openxmlformats.org/officeDocument/2006/relationships/tags" Target="../tags/tag7.xml"/><Relationship Id="rId21" Type="http://schemas.openxmlformats.org/officeDocument/2006/relationships/image" Target="../media/image25.png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36.xml"/><Relationship Id="rId18" Type="http://schemas.openxmlformats.org/officeDocument/2006/relationships/tags" Target="../tags/tag41.xml"/><Relationship Id="rId26" Type="http://schemas.openxmlformats.org/officeDocument/2006/relationships/tags" Target="../tags/tag49.xml"/><Relationship Id="rId39" Type="http://schemas.openxmlformats.org/officeDocument/2006/relationships/image" Target="../media/image27.png"/><Relationship Id="rId21" Type="http://schemas.openxmlformats.org/officeDocument/2006/relationships/tags" Target="../tags/tag44.xml"/><Relationship Id="rId34" Type="http://schemas.openxmlformats.org/officeDocument/2006/relationships/tags" Target="../tags/tag57.xml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17" Type="http://schemas.openxmlformats.org/officeDocument/2006/relationships/tags" Target="../tags/tag40.xml"/><Relationship Id="rId25" Type="http://schemas.openxmlformats.org/officeDocument/2006/relationships/tags" Target="../tags/tag48.xml"/><Relationship Id="rId33" Type="http://schemas.openxmlformats.org/officeDocument/2006/relationships/tags" Target="../tags/tag56.xml"/><Relationship Id="rId38" Type="http://schemas.openxmlformats.org/officeDocument/2006/relationships/image" Target="../media/image26.png"/><Relationship Id="rId2" Type="http://schemas.openxmlformats.org/officeDocument/2006/relationships/tags" Target="../tags/tag25.xml"/><Relationship Id="rId16" Type="http://schemas.openxmlformats.org/officeDocument/2006/relationships/tags" Target="../tags/tag39.xml"/><Relationship Id="rId20" Type="http://schemas.openxmlformats.org/officeDocument/2006/relationships/tags" Target="../tags/tag43.xml"/><Relationship Id="rId29" Type="http://schemas.openxmlformats.org/officeDocument/2006/relationships/tags" Target="../tags/tag52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24" Type="http://schemas.openxmlformats.org/officeDocument/2006/relationships/tags" Target="../tags/tag47.xml"/><Relationship Id="rId32" Type="http://schemas.openxmlformats.org/officeDocument/2006/relationships/tags" Target="../tags/tag55.xml"/><Relationship Id="rId37" Type="http://schemas.openxmlformats.org/officeDocument/2006/relationships/slideLayout" Target="../slideLayouts/slideLayout2.xml"/><Relationship Id="rId5" Type="http://schemas.openxmlformats.org/officeDocument/2006/relationships/tags" Target="../tags/tag28.xml"/><Relationship Id="rId15" Type="http://schemas.openxmlformats.org/officeDocument/2006/relationships/tags" Target="../tags/tag38.xml"/><Relationship Id="rId23" Type="http://schemas.openxmlformats.org/officeDocument/2006/relationships/tags" Target="../tags/tag46.xml"/><Relationship Id="rId28" Type="http://schemas.openxmlformats.org/officeDocument/2006/relationships/tags" Target="../tags/tag51.xml"/><Relationship Id="rId36" Type="http://schemas.openxmlformats.org/officeDocument/2006/relationships/tags" Target="../tags/tag59.xml"/><Relationship Id="rId10" Type="http://schemas.openxmlformats.org/officeDocument/2006/relationships/tags" Target="../tags/tag33.xml"/><Relationship Id="rId19" Type="http://schemas.openxmlformats.org/officeDocument/2006/relationships/tags" Target="../tags/tag42.xml"/><Relationship Id="rId31" Type="http://schemas.openxmlformats.org/officeDocument/2006/relationships/tags" Target="../tags/tag54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tags" Target="../tags/tag37.xml"/><Relationship Id="rId22" Type="http://schemas.openxmlformats.org/officeDocument/2006/relationships/tags" Target="../tags/tag45.xml"/><Relationship Id="rId27" Type="http://schemas.openxmlformats.org/officeDocument/2006/relationships/tags" Target="../tags/tag50.xml"/><Relationship Id="rId30" Type="http://schemas.openxmlformats.org/officeDocument/2006/relationships/tags" Target="../tags/tag53.xml"/><Relationship Id="rId35" Type="http://schemas.openxmlformats.org/officeDocument/2006/relationships/tags" Target="../tags/tag58.xml"/><Relationship Id="rId8" Type="http://schemas.openxmlformats.org/officeDocument/2006/relationships/tags" Target="../tags/tag31.xml"/><Relationship Id="rId3" Type="http://schemas.openxmlformats.org/officeDocument/2006/relationships/tags" Target="../tags/tag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customXml" Target="../ink/ink14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.png"/><Relationship Id="rId23" Type="http://schemas.openxmlformats.org/officeDocument/2006/relationships/image" Target="../media/image296.png"/><Relationship Id="rId4" Type="http://schemas.openxmlformats.org/officeDocument/2006/relationships/customXml" Target="../ink/ink1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customXml" Target="../ink/ink17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5.png"/><Relationship Id="rId96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8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B6E5BC8-B845-8E40-FD4C-21D55B29CC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48600F-B7DA-9357-561F-1CD3F52D9793}"/>
              </a:ext>
            </a:extLst>
          </p:cNvPr>
          <p:cNvSpPr txBox="1"/>
          <p:nvPr/>
        </p:nvSpPr>
        <p:spPr>
          <a:xfrm>
            <a:off x="2023110" y="1227455"/>
            <a:ext cx="733488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latin typeface="Segoe UI" panose="020B0502040204020203" pitchFamily="34" charset="0"/>
                <a:cs typeface="Segoe UI" panose="020B0502040204020203" pitchFamily="34" charset="0"/>
              </a:rPr>
              <a:t>Pytorch2.0</a:t>
            </a:r>
          </a:p>
        </p:txBody>
      </p:sp>
      <p:cxnSp>
        <p:nvCxnSpPr>
          <p:cNvPr id="5" name="直接连接符 22">
            <a:extLst>
              <a:ext uri="{FF2B5EF4-FFF2-40B4-BE49-F238E27FC236}">
                <a16:creationId xmlns:a16="http://schemas.microsoft.com/office/drawing/2014/main" id="{67A36EBD-3B74-A0F0-99EB-57FD238C4566}"/>
              </a:ext>
            </a:extLst>
          </p:cNvPr>
          <p:cNvCxnSpPr/>
          <p:nvPr/>
        </p:nvCxnSpPr>
        <p:spPr>
          <a:xfrm>
            <a:off x="1654107" y="1421080"/>
            <a:ext cx="0" cy="40158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78C060C-9CF0-F1EC-3154-C14B6648DC18}"/>
              </a:ext>
            </a:extLst>
          </p:cNvPr>
          <p:cNvSpPr txBox="1"/>
          <p:nvPr/>
        </p:nvSpPr>
        <p:spPr>
          <a:xfrm>
            <a:off x="2023352" y="2623230"/>
            <a:ext cx="29260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latin typeface="Segoe UI" panose="020B0502040204020203" pitchFamily="34" charset="0"/>
                <a:cs typeface="Segoe UI" panose="020B0502040204020203" pitchFamily="34" charset="0"/>
              </a:rPr>
              <a:t>快速入门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B2E190-8955-965B-F950-A4C28815CBDC}"/>
              </a:ext>
            </a:extLst>
          </p:cNvPr>
          <p:cNvSpPr/>
          <p:nvPr/>
        </p:nvSpPr>
        <p:spPr>
          <a:xfrm>
            <a:off x="2386502" y="4552546"/>
            <a:ext cx="1176010" cy="36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C74605B-69BC-5CD8-F278-23C700652DDE}"/>
              </a:ext>
            </a:extLst>
          </p:cNvPr>
          <p:cNvSpPr txBox="1"/>
          <p:nvPr/>
        </p:nvSpPr>
        <p:spPr>
          <a:xfrm>
            <a:off x="2333029" y="4562274"/>
            <a:ext cx="12458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SG" sz="1400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AI</a:t>
            </a:r>
            <a:r>
              <a:rPr lang="zh-CN" altLang="en-US" sz="1400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大模型</a:t>
            </a:r>
            <a:r>
              <a:rPr lang="zh-SG" altLang="en-US" sz="1400" dirty="0">
                <a:latin typeface="Segoe UI" panose="020B0502040204020203" pitchFamily="34" charset="0"/>
                <a:cs typeface="Segoe UI" panose="020B0502040204020203" pitchFamily="34" charset="0"/>
                <a:sym typeface="+mn-ea"/>
              </a:rPr>
              <a:t>实战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1191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B6E5BC8-B845-8E40-FD4C-21D55B29CC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92C0FE9-F214-5B01-61F1-0093A90E0913}"/>
              </a:ext>
            </a:extLst>
          </p:cNvPr>
          <p:cNvSpPr txBox="1"/>
          <p:nvPr/>
        </p:nvSpPr>
        <p:spPr>
          <a:xfrm>
            <a:off x="5191760" y="184815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/>
              <a:t>课程简介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280C34-527E-3E0E-66FE-B89F9F5FC30C}"/>
              </a:ext>
            </a:extLst>
          </p:cNvPr>
          <p:cNvSpPr/>
          <p:nvPr/>
        </p:nvSpPr>
        <p:spPr>
          <a:xfrm>
            <a:off x="2149811" y="1761083"/>
            <a:ext cx="715805" cy="7158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5F7BD3-8CD2-A779-BE4B-3302DE3BBACE}"/>
              </a:ext>
            </a:extLst>
          </p:cNvPr>
          <p:cNvSpPr/>
          <p:nvPr/>
        </p:nvSpPr>
        <p:spPr>
          <a:xfrm>
            <a:off x="2149811" y="3170415"/>
            <a:ext cx="715805" cy="71580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52317B-2ABF-CB59-8F00-51F9B737D49C}"/>
              </a:ext>
            </a:extLst>
          </p:cNvPr>
          <p:cNvSpPr/>
          <p:nvPr/>
        </p:nvSpPr>
        <p:spPr>
          <a:xfrm>
            <a:off x="2150153" y="4751708"/>
            <a:ext cx="715805" cy="7158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EC154E-706E-9756-E8FD-B604BCD743FD}"/>
              </a:ext>
            </a:extLst>
          </p:cNvPr>
          <p:cNvSpPr txBox="1"/>
          <p:nvPr/>
        </p:nvSpPr>
        <p:spPr>
          <a:xfrm>
            <a:off x="3030220" y="2206625"/>
            <a:ext cx="53244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Nirmala UI Semilight" panose="020B0402040204020203" pitchFamily="34" charset="0"/>
                <a:cs typeface="Nirmala UI Semilight" panose="020B0402040204020203" pitchFamily="34" charset="0"/>
              </a:rPr>
              <a:t>Anaconda</a:t>
            </a:r>
            <a:r>
              <a:rPr lang="zh-CN" altLang="en-US" sz="1400" dirty="0">
                <a:latin typeface="Nirmala UI Semilight" panose="020B0402040204020203" pitchFamily="34" charset="0"/>
                <a:cs typeface="Nirmala UI Semilight" panose="020B0402040204020203" pitchFamily="34" charset="0"/>
              </a:rPr>
              <a:t>，</a:t>
            </a:r>
            <a:r>
              <a:rPr lang="en-US" altLang="zh-CN" sz="1400" dirty="0">
                <a:latin typeface="Nirmala UI Semilight" panose="020B0402040204020203" pitchFamily="34" charset="0"/>
                <a:cs typeface="Nirmala UI Semilight" panose="020B0402040204020203" pitchFamily="34" charset="0"/>
              </a:rPr>
              <a:t>jupyter notebook</a:t>
            </a:r>
            <a:r>
              <a:rPr lang="zh-CN" altLang="en-US" sz="1400" dirty="0">
                <a:latin typeface="Nirmala UI Semilight" panose="020B0402040204020203" pitchFamily="34" charset="0"/>
                <a:cs typeface="Nirmala UI Semilight" panose="020B0402040204020203" pitchFamily="34" charset="0"/>
              </a:rPr>
              <a:t>，</a:t>
            </a:r>
            <a:r>
              <a:rPr lang="en-US" altLang="zh-CN" sz="1400" dirty="0">
                <a:latin typeface="Nirmala UI Semilight" panose="020B0402040204020203" pitchFamily="34" charset="0"/>
                <a:cs typeface="Nirmala UI Semilight" panose="020B0402040204020203" pitchFamily="34" charset="0"/>
              </a:rPr>
              <a:t>vs code</a:t>
            </a:r>
            <a:r>
              <a:rPr lang="zh-CN" altLang="en-US" sz="1400" dirty="0">
                <a:latin typeface="Nirmala UI Semilight" panose="020B0402040204020203" pitchFamily="34" charset="0"/>
                <a:cs typeface="Nirmala UI Semilight" panose="020B0402040204020203" pitchFamily="34" charset="0"/>
              </a:rPr>
              <a:t>，</a:t>
            </a:r>
            <a:r>
              <a:rPr lang="en-US" altLang="zh-CN" sz="1400" dirty="0">
                <a:latin typeface="Nirmala UI Semilight" panose="020B0402040204020203" pitchFamily="34" charset="0"/>
                <a:cs typeface="Nirmala UI Semilight" panose="020B0402040204020203" pitchFamily="34" charset="0"/>
              </a:rPr>
              <a:t>pytorch2.0</a:t>
            </a:r>
            <a:r>
              <a:rPr lang="zh-CN" altLang="en-US" sz="1400" dirty="0">
                <a:latin typeface="Nirmala UI Semilight" panose="020B0402040204020203" pitchFamily="34" charset="0"/>
                <a:cs typeface="Nirmala UI Semilight" panose="020B0402040204020203" pitchFamily="34" charset="0"/>
              </a:rPr>
              <a:t>（</a:t>
            </a:r>
            <a:r>
              <a:rPr lang="en-US" altLang="zh-CN" sz="1400" dirty="0">
                <a:latin typeface="Nirmala UI Semilight" panose="020B0402040204020203" pitchFamily="34" charset="0"/>
                <a:cs typeface="Nirmala UI Semilight" panose="020B0402040204020203" pitchFamily="34" charset="0"/>
              </a:rPr>
              <a:t>cpu/gpu</a:t>
            </a:r>
            <a:r>
              <a:rPr lang="zh-CN" altLang="en-US" sz="1400" dirty="0">
                <a:latin typeface="Nirmala UI Semilight" panose="020B0402040204020203" pitchFamily="34" charset="0"/>
                <a:cs typeface="Nirmala UI Semilight" panose="020B0402040204020203" pitchFamily="34" charset="0"/>
              </a:rPr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DB406E-A98D-0FFD-127A-EE5139457CDA}"/>
              </a:ext>
            </a:extLst>
          </p:cNvPr>
          <p:cNvSpPr txBox="1"/>
          <p:nvPr/>
        </p:nvSpPr>
        <p:spPr>
          <a:xfrm>
            <a:off x="3030154" y="1712595"/>
            <a:ext cx="425774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pytorch2.0 环境配置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1B7058B-59DE-EA79-0238-1FE137F7F6D6}"/>
              </a:ext>
            </a:extLst>
          </p:cNvPr>
          <p:cNvSpPr txBox="1"/>
          <p:nvPr/>
        </p:nvSpPr>
        <p:spPr>
          <a:xfrm>
            <a:off x="3030220" y="3664585"/>
            <a:ext cx="5672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Nirmala UI Semilight" panose="020B0402040204020203" pitchFamily="34" charset="0"/>
                <a:cs typeface="Nirmala UI Semilight" panose="020B0402040204020203" pitchFamily="34" charset="0"/>
                <a:sym typeface="+mn-ea"/>
              </a:rPr>
              <a:t>感知机模型，</a:t>
            </a:r>
            <a:r>
              <a:rPr lang="zh-CN" altLang="en-US" sz="1400" dirty="0">
                <a:latin typeface="Nirmala UI Semilight" panose="020B0402040204020203" pitchFamily="34" charset="0"/>
                <a:cs typeface="Nirmala UI Semilight" panose="020B0402040204020203" pitchFamily="34" charset="0"/>
              </a:rPr>
              <a:t>神经网络的层级结构，神经网络如何对数据做特征提取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DE32060-C7A5-BE3B-7A2A-BA7E0D86C94C}"/>
              </a:ext>
            </a:extLst>
          </p:cNvPr>
          <p:cNvSpPr txBox="1"/>
          <p:nvPr/>
        </p:nvSpPr>
        <p:spPr>
          <a:xfrm>
            <a:off x="3030154" y="3169919"/>
            <a:ext cx="567227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人工智能基石：神经网络（理论）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E9B4865-EE99-3717-A229-946EE1EE3484}"/>
              </a:ext>
            </a:extLst>
          </p:cNvPr>
          <p:cNvSpPr txBox="1"/>
          <p:nvPr/>
        </p:nvSpPr>
        <p:spPr>
          <a:xfrm>
            <a:off x="2942590" y="5245735"/>
            <a:ext cx="51320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Nirmala UI Semilight" panose="020B0402040204020203" pitchFamily="34" charset="0"/>
                <a:ea typeface="微软雅黑" panose="020B0503020204020204" pitchFamily="34" charset="-122"/>
                <a:cs typeface="Nirmala UI Semilight" panose="020B0402040204020203" pitchFamily="34" charset="0"/>
                <a:sym typeface="Segoe UI" panose="020B0502040204020203" pitchFamily="34" charset="0"/>
              </a:rPr>
              <a:t>自定义数据集加载脚本，网络模型搭建，训练，验证，推理</a:t>
            </a:r>
          </a:p>
        </p:txBody>
      </p:sp>
      <p:cxnSp>
        <p:nvCxnSpPr>
          <p:cNvPr id="17" name="直接连接符 20">
            <a:extLst>
              <a:ext uri="{FF2B5EF4-FFF2-40B4-BE49-F238E27FC236}">
                <a16:creationId xmlns:a16="http://schemas.microsoft.com/office/drawing/2014/main" id="{CBFC1CE3-25CA-5BF8-72C9-5A370E09E9F6}"/>
              </a:ext>
            </a:extLst>
          </p:cNvPr>
          <p:cNvCxnSpPr/>
          <p:nvPr/>
        </p:nvCxnSpPr>
        <p:spPr>
          <a:xfrm>
            <a:off x="3994718" y="824314"/>
            <a:ext cx="42025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C995E4C-4983-C0BB-6D19-55D22B2905F2}"/>
              </a:ext>
            </a:extLst>
          </p:cNvPr>
          <p:cNvSpPr txBox="1"/>
          <p:nvPr/>
        </p:nvSpPr>
        <p:spPr>
          <a:xfrm>
            <a:off x="2943073" y="4751212"/>
            <a:ext cx="70889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SG" altLang="en-US" sz="2400" dirty="0"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神经网络实战</a:t>
            </a:r>
            <a:endParaRPr lang="en-US" altLang="zh-CN" sz="2400" dirty="0">
              <a:latin typeface="Neo Sans Intel" panose="020B0504020202020204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639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FA3C8630-505C-5487-5D6F-9057FB167640}"/>
              </a:ext>
            </a:extLst>
          </p:cNvPr>
          <p:cNvSpPr txBox="1"/>
          <p:nvPr/>
        </p:nvSpPr>
        <p:spPr>
          <a:xfrm>
            <a:off x="4638040" y="4929505"/>
            <a:ext cx="2943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  <a:sym typeface="+mn-ea"/>
              </a:rPr>
              <a:t>pytorch2.0 环境配置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1" name="直接连接符 62">
            <a:extLst>
              <a:ext uri="{FF2B5EF4-FFF2-40B4-BE49-F238E27FC236}">
                <a16:creationId xmlns:a16="http://schemas.microsoft.com/office/drawing/2014/main" id="{455A10FD-CEC7-C62C-2C37-D02087838156}"/>
              </a:ext>
            </a:extLst>
          </p:cNvPr>
          <p:cNvCxnSpPr/>
          <p:nvPr/>
        </p:nvCxnSpPr>
        <p:spPr>
          <a:xfrm>
            <a:off x="5047737" y="5551409"/>
            <a:ext cx="2172727" cy="10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336CB883-A6FB-0700-7F6B-19EBC817D192}"/>
              </a:ext>
            </a:extLst>
          </p:cNvPr>
          <p:cNvSpPr txBox="1"/>
          <p:nvPr/>
        </p:nvSpPr>
        <p:spPr>
          <a:xfrm>
            <a:off x="5257800" y="1613266"/>
            <a:ext cx="52959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SG" sz="19900" dirty="0"/>
              <a:t>1</a:t>
            </a:r>
            <a:endParaRPr kumimoji="1" lang="zh-SG" altLang="en-US" sz="19900" dirty="0"/>
          </a:p>
        </p:txBody>
      </p:sp>
    </p:spTree>
    <p:extLst>
      <p:ext uri="{BB962C8B-B14F-4D97-AF65-F5344CB8AC3E}">
        <p14:creationId xmlns:p14="http://schemas.microsoft.com/office/powerpoint/2010/main" val="362315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5EC701-2198-ED22-BAA7-8A3A7B2840BD}"/>
              </a:ext>
            </a:extLst>
          </p:cNvPr>
          <p:cNvSpPr txBox="1"/>
          <p:nvPr/>
        </p:nvSpPr>
        <p:spPr>
          <a:xfrm>
            <a:off x="4533810" y="337215"/>
            <a:ext cx="33148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/>
              <a:t>pytorch2.0</a:t>
            </a:r>
            <a:r>
              <a:rPr lang="zh-CN" altLang="en-US" sz="3200" dirty="0"/>
              <a:t>的优势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42B997-C09A-DEF1-146E-7BC8236350F7}"/>
              </a:ext>
            </a:extLst>
          </p:cNvPr>
          <p:cNvSpPr/>
          <p:nvPr/>
        </p:nvSpPr>
        <p:spPr>
          <a:xfrm>
            <a:off x="2245061" y="1913483"/>
            <a:ext cx="715805" cy="7158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B78351-2665-3994-FAE3-75C0AE4C0A78}"/>
              </a:ext>
            </a:extLst>
          </p:cNvPr>
          <p:cNvSpPr/>
          <p:nvPr/>
        </p:nvSpPr>
        <p:spPr>
          <a:xfrm>
            <a:off x="2245061" y="3265665"/>
            <a:ext cx="715805" cy="71580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0C6222-2816-466C-B05C-BD01BD6C43A7}"/>
              </a:ext>
            </a:extLst>
          </p:cNvPr>
          <p:cNvSpPr/>
          <p:nvPr/>
        </p:nvSpPr>
        <p:spPr>
          <a:xfrm>
            <a:off x="2245403" y="4904108"/>
            <a:ext cx="715805" cy="7158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DC1BC4-AE09-21C8-058C-DCA7ED6E1FAF}"/>
              </a:ext>
            </a:extLst>
          </p:cNvPr>
          <p:cNvSpPr txBox="1"/>
          <p:nvPr/>
        </p:nvSpPr>
        <p:spPr>
          <a:xfrm>
            <a:off x="3125470" y="2359025"/>
            <a:ext cx="53244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dirty="0">
                <a:latin typeface="Nirmala UI Semilight" panose="020B0402040204020203" pitchFamily="34" charset="0"/>
                <a:cs typeface="Nirmala UI Semilight" panose="020B0402040204020203" pitchFamily="34" charset="0"/>
              </a:rPr>
              <a:t>compiled_model = torch.compile(model)</a:t>
            </a:r>
            <a:r>
              <a:rPr lang="zh-CN" sz="1400" dirty="0">
                <a:latin typeface="Nirmala UI Semilight" panose="020B0402040204020203" pitchFamily="34" charset="0"/>
                <a:cs typeface="Nirmala UI Semilight" panose="020B0402040204020203" pitchFamily="34" charset="0"/>
              </a:rPr>
              <a:t>，实现模型近一倍的提速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7EBBC9-BABE-54F8-75B3-8CAE7E1A1235}"/>
              </a:ext>
            </a:extLst>
          </p:cNvPr>
          <p:cNvSpPr txBox="1"/>
          <p:nvPr/>
        </p:nvSpPr>
        <p:spPr>
          <a:xfrm>
            <a:off x="3125404" y="1864995"/>
            <a:ext cx="425774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训练速度快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CF4902-764A-D793-52C5-B80961606B5E}"/>
              </a:ext>
            </a:extLst>
          </p:cNvPr>
          <p:cNvSpPr txBox="1"/>
          <p:nvPr/>
        </p:nvSpPr>
        <p:spPr>
          <a:xfrm>
            <a:off x="3125470" y="3759835"/>
            <a:ext cx="70415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Nirmala UI Semilight" panose="020B0402040204020203" pitchFamily="34" charset="0"/>
                <a:cs typeface="Nirmala UI Semilight" panose="020B0402040204020203" pitchFamily="34" charset="0"/>
              </a:rPr>
              <a:t>从早期版本开始，API 一直保持一致。支持 CPU、GPU、并行处理以及分布式训练。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10483E-D1F5-5DAA-9FAC-BDE2D4BA8C04}"/>
              </a:ext>
            </a:extLst>
          </p:cNvPr>
          <p:cNvSpPr txBox="1"/>
          <p:nvPr/>
        </p:nvSpPr>
        <p:spPr>
          <a:xfrm>
            <a:off x="3125404" y="3265169"/>
            <a:ext cx="567227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可用性强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C58E46-3AC6-B9D9-F5D5-23546D4E69FB}"/>
              </a:ext>
            </a:extLst>
          </p:cNvPr>
          <p:cNvSpPr txBox="1"/>
          <p:nvPr/>
        </p:nvSpPr>
        <p:spPr>
          <a:xfrm>
            <a:off x="3037840" y="5398135"/>
            <a:ext cx="51320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Nirmala UI Semilight" panose="020B0402040204020203" pitchFamily="34" charset="0"/>
                <a:ea typeface="微软雅黑" panose="020B0503020204020204" pitchFamily="34" charset="-122"/>
                <a:cs typeface="Nirmala UI Semilight" panose="020B0402040204020203" pitchFamily="34" charset="0"/>
                <a:sym typeface="Segoe UI" panose="020B0502040204020203" pitchFamily="34" charset="0"/>
              </a:rPr>
              <a:t>标志着用户可以大胆的进行版本升级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DFA99F-42B5-52A8-59D8-8F04320483ED}"/>
              </a:ext>
            </a:extLst>
          </p:cNvPr>
          <p:cNvSpPr txBox="1"/>
          <p:nvPr/>
        </p:nvSpPr>
        <p:spPr>
          <a:xfrm>
            <a:off x="3038323" y="4903612"/>
            <a:ext cx="70889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100％向后兼容</a:t>
            </a:r>
          </a:p>
        </p:txBody>
      </p:sp>
      <p:cxnSp>
        <p:nvCxnSpPr>
          <p:cNvPr id="14" name="直接连接符 20">
            <a:extLst>
              <a:ext uri="{FF2B5EF4-FFF2-40B4-BE49-F238E27FC236}">
                <a16:creationId xmlns:a16="http://schemas.microsoft.com/office/drawing/2014/main" id="{B54174DA-07F8-76E7-D9AA-6629D4A80501}"/>
              </a:ext>
            </a:extLst>
          </p:cNvPr>
          <p:cNvCxnSpPr/>
          <p:nvPr/>
        </p:nvCxnSpPr>
        <p:spPr>
          <a:xfrm>
            <a:off x="4089968" y="976714"/>
            <a:ext cx="4202565" cy="0"/>
          </a:xfrm>
          <a:prstGeom prst="line">
            <a:avLst/>
          </a:prstGeom>
          <a:ln>
            <a:gradFill flip="none" rotWithShape="1">
              <a:gsLst>
                <a:gs pos="38500">
                  <a:srgbClr val="E1E1E2"/>
                </a:gs>
                <a:gs pos="20000">
                  <a:schemeClr val="tx1">
                    <a:lumMod val="50000"/>
                    <a:lumOff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85500">
                  <a:schemeClr val="tx1">
                    <a:lumMod val="65000"/>
                    <a:lumOff val="35000"/>
                  </a:schemeClr>
                </a:gs>
                <a:gs pos="71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  <a:gs pos="0">
                  <a:srgbClr val="232524"/>
                </a:gs>
                <a:gs pos="99000">
                  <a:srgbClr val="2C2C2C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413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57150" y="155575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1.1   </a:t>
            </a:r>
            <a:r>
              <a:rPr lang="zh-CN" altLang="en-US" sz="2400" dirty="0">
                <a:sym typeface="+mn-ea"/>
              </a:rPr>
              <a:t>编程环境管理：</a:t>
            </a:r>
            <a:r>
              <a:rPr lang="en-US" altLang="zh-CN" sz="2400" dirty="0">
                <a:sym typeface="+mn-ea"/>
              </a:rPr>
              <a:t>Anaconda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F34FBD-426A-D2E6-EE63-CAF14398AB52}"/>
              </a:ext>
            </a:extLst>
          </p:cNvPr>
          <p:cNvSpPr txBox="1"/>
          <p:nvPr/>
        </p:nvSpPr>
        <p:spPr>
          <a:xfrm>
            <a:off x="654685" y="1080135"/>
            <a:ext cx="1085659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Anaconda 是一个流行的开源数据科学平台，旨在简化数据科学和机器学习任务的环境配置和包管理。</a:t>
            </a:r>
          </a:p>
          <a:p>
            <a:endParaRPr lang="zh-CN" altLang="en-US" dirty="0"/>
          </a:p>
          <a:p>
            <a:r>
              <a:rPr lang="zh-CN" altLang="en-US" dirty="0"/>
              <a:t>Anaconda 提供了以下主要功能：</a:t>
            </a:r>
          </a:p>
          <a:p>
            <a:endParaRPr lang="zh-CN" altLang="en-US" dirty="0"/>
          </a:p>
          <a:p>
            <a:r>
              <a:rPr lang="en-US" altLang="zh-CN" dirty="0"/>
              <a:t>1. </a:t>
            </a:r>
            <a:r>
              <a:rPr lang="zh-CN" altLang="en-US" dirty="0"/>
              <a:t>安装方便：Anaconda 包含了许多常用的数据科学和机器学习库。</a:t>
            </a:r>
          </a:p>
          <a:p>
            <a:endParaRPr lang="zh-CN" altLang="en-US" dirty="0"/>
          </a:p>
          <a:p>
            <a:r>
              <a:rPr lang="en-US" altLang="zh-CN" b="1" dirty="0">
                <a:highlight>
                  <a:srgbClr val="FFFF00"/>
                </a:highlight>
              </a:rPr>
              <a:t>2. </a:t>
            </a:r>
            <a:r>
              <a:rPr lang="zh-CN" altLang="en-US" b="1" dirty="0">
                <a:highlight>
                  <a:srgbClr val="FFFF00"/>
                </a:highlight>
              </a:rPr>
              <a:t>环境管理</a:t>
            </a:r>
            <a:r>
              <a:rPr lang="zh-CN" altLang="en-US" dirty="0"/>
              <a:t>：Anaconda 允许用户创建和管理多个独立的环境。</a:t>
            </a:r>
          </a:p>
          <a:p>
            <a:endParaRPr lang="zh-CN" altLang="en-US" dirty="0"/>
          </a:p>
          <a:p>
            <a:r>
              <a:rPr lang="en-US" altLang="zh-CN" dirty="0"/>
              <a:t>3.</a:t>
            </a:r>
            <a:r>
              <a:rPr lang="zh-CN" altLang="en-US" dirty="0"/>
              <a:t>包管理：Anaconda 使用名为 Conda 的包管理器来安装、更新和管理库</a:t>
            </a:r>
          </a:p>
          <a:p>
            <a:endParaRPr lang="zh-CN" altLang="en-US" dirty="0"/>
          </a:p>
          <a:p>
            <a:r>
              <a:rPr lang="en-US" altLang="zh-CN" dirty="0"/>
              <a:t>4. </a:t>
            </a:r>
            <a:r>
              <a:rPr lang="zh-CN" altLang="en-US" dirty="0"/>
              <a:t>Jupyter Notebook：Anaconda 集成了 Jupyter Notebook。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37ABC6-4879-A450-15DE-85DECDF505CB}"/>
              </a:ext>
            </a:extLst>
          </p:cNvPr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71440" y="4822825"/>
            <a:ext cx="1822450" cy="1117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270AFE4D-7067-8372-AC0B-C1D75F61632B}"/>
              </a:ext>
            </a:extLst>
          </p:cNvPr>
          <p:cNvSpPr/>
          <p:nvPr/>
        </p:nvSpPr>
        <p:spPr>
          <a:xfrm>
            <a:off x="3164840" y="4495165"/>
            <a:ext cx="1705610" cy="95123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项目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</a:p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pytorch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cpu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python1.0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D1F00C0-6359-CCBF-995F-9B34CB9B1BC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02665" y="5547360"/>
            <a:ext cx="1705610" cy="95123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项目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</a:p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pytorch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gpu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python2.0</a:t>
            </a:r>
          </a:p>
        </p:txBody>
      </p:sp>
      <p:cxnSp>
        <p:nvCxnSpPr>
          <p:cNvPr id="10" name="直接箭头连接符 6">
            <a:extLst>
              <a:ext uri="{FF2B5EF4-FFF2-40B4-BE49-F238E27FC236}">
                <a16:creationId xmlns:a16="http://schemas.microsoft.com/office/drawing/2014/main" id="{9B8B2A69-C292-EF9D-2451-5FDA6C5EB3CC}"/>
              </a:ext>
            </a:extLst>
          </p:cNvPr>
          <p:cNvCxnSpPr>
            <a:stCxn id="9" idx="3"/>
          </p:cNvCxnSpPr>
          <p:nvPr/>
        </p:nvCxnSpPr>
        <p:spPr>
          <a:xfrm flipV="1">
            <a:off x="2708275" y="5891530"/>
            <a:ext cx="2440940" cy="1314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7">
            <a:extLst>
              <a:ext uri="{FF2B5EF4-FFF2-40B4-BE49-F238E27FC236}">
                <a16:creationId xmlns:a16="http://schemas.microsoft.com/office/drawing/2014/main" id="{46CF4A37-422A-C365-3A8B-495E69CA080E}"/>
              </a:ext>
            </a:extLst>
          </p:cNvPr>
          <p:cNvCxnSpPr>
            <a:stCxn id="8" idx="3"/>
          </p:cNvCxnSpPr>
          <p:nvPr/>
        </p:nvCxnSpPr>
        <p:spPr>
          <a:xfrm>
            <a:off x="4870450" y="4970780"/>
            <a:ext cx="503555" cy="318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0FDCB430-7632-048E-2B84-A1D163C640C2}"/>
                  </a:ext>
                </a:extLst>
              </p14:cNvPr>
              <p14:cNvContentPartPr/>
              <p14:nvPr/>
            </p14:nvContentPartPr>
            <p14:xfrm>
              <a:off x="6081480" y="746465"/>
              <a:ext cx="360" cy="360"/>
            </p14:xfrm>
          </p:contentPart>
        </mc:Choice>
        <mc:Fallback xmlns=""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0FDCB430-7632-048E-2B84-A1D163C640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2840" y="7378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BFC13B39-69AD-47E3-7E89-565173C1E0DC}"/>
                  </a:ext>
                </a:extLst>
              </p14:cNvPr>
              <p14:cNvContentPartPr/>
              <p14:nvPr/>
            </p14:nvContentPartPr>
            <p14:xfrm>
              <a:off x="4918680" y="-243535"/>
              <a:ext cx="360" cy="360"/>
            </p14:xfrm>
          </p:contentPart>
        </mc:Choice>
        <mc:Fallback xmlns=""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BFC13B39-69AD-47E3-7E89-565173C1E0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10040" y="-2525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EEB1ECFE-96DF-0939-AAC0-2993B97A41A0}"/>
                  </a:ext>
                </a:extLst>
              </p14:cNvPr>
              <p14:cNvContentPartPr/>
              <p14:nvPr/>
            </p14:nvContentPartPr>
            <p14:xfrm>
              <a:off x="2149920" y="-667975"/>
              <a:ext cx="360" cy="360"/>
            </p14:xfrm>
          </p:contentPart>
        </mc:Choice>
        <mc:Fallback xmlns=""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EEB1ECFE-96DF-0939-AAC0-2993B97A41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41280" y="-67697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9660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57150" y="155575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1.1   </a:t>
            </a:r>
            <a:r>
              <a:rPr lang="zh-CN" altLang="en-US" sz="2400" dirty="0">
                <a:sym typeface="+mn-ea"/>
              </a:rPr>
              <a:t>编程环境管理：</a:t>
            </a:r>
            <a:r>
              <a:rPr lang="en-US" altLang="zh-CN" sz="2400" dirty="0">
                <a:sym typeface="+mn-ea"/>
              </a:rPr>
              <a:t>Anaconda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127C68-0F55-7BFA-17B5-74CC41F47A3B}"/>
              </a:ext>
            </a:extLst>
          </p:cNvPr>
          <p:cNvSpPr txBox="1"/>
          <p:nvPr/>
        </p:nvSpPr>
        <p:spPr>
          <a:xfrm>
            <a:off x="933450" y="11297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SG" altLang="en-US" dirty="0"/>
              <a:t>https://anaconda.org/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DDE371-3087-A533-68EA-FDAB6A22A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1876425"/>
            <a:ext cx="7168918" cy="4714581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27E404F1-1777-7790-F7ED-E72CB2732F87}"/>
              </a:ext>
            </a:extLst>
          </p:cNvPr>
          <p:cNvSpPr/>
          <p:nvPr/>
        </p:nvSpPr>
        <p:spPr>
          <a:xfrm>
            <a:off x="6096000" y="1876425"/>
            <a:ext cx="1066800" cy="3143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5984C48-F92C-A596-AC33-C19A2C42DBD1}"/>
                  </a:ext>
                </a:extLst>
              </p14:cNvPr>
              <p14:cNvContentPartPr/>
              <p14:nvPr/>
            </p14:nvContentPartPr>
            <p14:xfrm>
              <a:off x="1091520" y="132354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5984C48-F92C-A596-AC33-C19A2C42DB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2520" y="131454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58E9DE45-6320-3B1E-2465-99E7486E7935}"/>
                  </a:ext>
                </a:extLst>
              </p14:cNvPr>
              <p14:cNvContentPartPr/>
              <p14:nvPr/>
            </p14:nvContentPartPr>
            <p14:xfrm>
              <a:off x="6885600" y="1218370"/>
              <a:ext cx="360" cy="36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58E9DE45-6320-3B1E-2465-99E7486E79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76960" y="120973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08BE1F86-9105-735D-683B-9A964D93367E}"/>
              </a:ext>
            </a:extLst>
          </p:cNvPr>
          <p:cNvSpPr txBox="1"/>
          <p:nvPr/>
        </p:nvSpPr>
        <p:spPr>
          <a:xfrm>
            <a:off x="3915350" y="1140588"/>
            <a:ext cx="235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推荐用</a:t>
            </a:r>
            <a:r>
              <a:rPr lang="en-US" altLang="zh-CN" dirty="0" err="1">
                <a:solidFill>
                  <a:srgbClr val="FF0000"/>
                </a:solidFill>
              </a:rPr>
              <a:t>miniconda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555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57150" y="155575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1.1   </a:t>
            </a:r>
            <a:r>
              <a:rPr lang="zh-CN" altLang="en-US" sz="2400" dirty="0">
                <a:sym typeface="+mn-ea"/>
              </a:rPr>
              <a:t>编程环境管理：</a:t>
            </a:r>
            <a:r>
              <a:rPr lang="en-US" altLang="zh-CN" sz="2400" dirty="0">
                <a:sym typeface="+mn-ea"/>
              </a:rPr>
              <a:t>Anaconda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2AAAB88-9C40-EDB4-E72E-60D3261BCD40}"/>
              </a:ext>
            </a:extLst>
          </p:cNvPr>
          <p:cNvGrpSpPr/>
          <p:nvPr/>
        </p:nvGrpSpPr>
        <p:grpSpPr>
          <a:xfrm>
            <a:off x="2387918" y="908050"/>
            <a:ext cx="7416164" cy="5794376"/>
            <a:chOff x="1499235" y="908050"/>
            <a:chExt cx="8882912" cy="7013578"/>
          </a:xfrm>
        </p:grpSpPr>
        <p:pic>
          <p:nvPicPr>
            <p:cNvPr id="6" name="图片 5" descr="图形用户界面, 应用程序, 网站&#10;&#10;描述已自动生成">
              <a:extLst>
                <a:ext uri="{FF2B5EF4-FFF2-40B4-BE49-F238E27FC236}">
                  <a16:creationId xmlns:a16="http://schemas.microsoft.com/office/drawing/2014/main" id="{DAD6F451-5E39-8CF0-BEFF-1E337D89B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9236" y="908050"/>
              <a:ext cx="2656854" cy="3429002"/>
            </a:xfrm>
            <a:prstGeom prst="rect">
              <a:avLst/>
            </a:prstGeom>
          </p:spPr>
        </p:pic>
        <p:pic>
          <p:nvPicPr>
            <p:cNvPr id="8" name="图片 7" descr="图形用户界面, 应用程序, Teams&#10;&#10;描述已自动生成">
              <a:extLst>
                <a:ext uri="{FF2B5EF4-FFF2-40B4-BE49-F238E27FC236}">
                  <a16:creationId xmlns:a16="http://schemas.microsoft.com/office/drawing/2014/main" id="{35609505-128E-7AD4-B61D-E1C3252CC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8166" y="908052"/>
              <a:ext cx="2656853" cy="3429000"/>
            </a:xfrm>
            <a:prstGeom prst="rect">
              <a:avLst/>
            </a:prstGeom>
          </p:spPr>
        </p:pic>
        <p:pic>
          <p:nvPicPr>
            <p:cNvPr id="10" name="图片 9" descr="图形用户界面, 文本, 应用程序&#10;&#10;描述已自动生成">
              <a:extLst>
                <a:ext uri="{FF2B5EF4-FFF2-40B4-BE49-F238E27FC236}">
                  <a16:creationId xmlns:a16="http://schemas.microsoft.com/office/drawing/2014/main" id="{D7EB521C-1E28-C494-2B48-8FA55E8CA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25294" y="908050"/>
              <a:ext cx="2656853" cy="3429001"/>
            </a:xfrm>
            <a:prstGeom prst="rect">
              <a:avLst/>
            </a:prstGeom>
          </p:spPr>
        </p:pic>
        <p:pic>
          <p:nvPicPr>
            <p:cNvPr id="14" name="图片 13" descr="图形用户界面, 文本, 应用程序&#10;&#10;描述已自动生成">
              <a:extLst>
                <a:ext uri="{FF2B5EF4-FFF2-40B4-BE49-F238E27FC236}">
                  <a16:creationId xmlns:a16="http://schemas.microsoft.com/office/drawing/2014/main" id="{592408D1-49D5-510A-10E5-1FA835BC0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99235" y="4492627"/>
              <a:ext cx="2656853" cy="3429001"/>
            </a:xfrm>
            <a:prstGeom prst="rect">
              <a:avLst/>
            </a:prstGeom>
          </p:spPr>
        </p:pic>
        <p:pic>
          <p:nvPicPr>
            <p:cNvPr id="16" name="图片 15" descr="图形用户界面, 应用程序&#10;&#10;描述已自动生成">
              <a:extLst>
                <a:ext uri="{FF2B5EF4-FFF2-40B4-BE49-F238E27FC236}">
                  <a16:creationId xmlns:a16="http://schemas.microsoft.com/office/drawing/2014/main" id="{86DB3D4E-9DC3-FC29-1122-F3480526C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8165" y="4492627"/>
              <a:ext cx="2656853" cy="3429000"/>
            </a:xfrm>
            <a:prstGeom prst="rect">
              <a:avLst/>
            </a:prstGeom>
          </p:spPr>
        </p:pic>
        <p:pic>
          <p:nvPicPr>
            <p:cNvPr id="18" name="图片 17" descr="图形用户界面, 文本, 应用程序&#10;&#10;描述已自动生成">
              <a:extLst>
                <a:ext uri="{FF2B5EF4-FFF2-40B4-BE49-F238E27FC236}">
                  <a16:creationId xmlns:a16="http://schemas.microsoft.com/office/drawing/2014/main" id="{9571292C-B50E-3B15-2037-291677586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25294" y="4492627"/>
              <a:ext cx="2656852" cy="3428999"/>
            </a:xfrm>
            <a:prstGeom prst="rect">
              <a:avLst/>
            </a:prstGeom>
          </p:spPr>
        </p:pic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6171B670-73AA-7A9E-0F68-46B21FCED10E}"/>
              </a:ext>
            </a:extLst>
          </p:cNvPr>
          <p:cNvSpPr txBox="1"/>
          <p:nvPr/>
        </p:nvSpPr>
        <p:spPr>
          <a:xfrm>
            <a:off x="2387918" y="3371640"/>
            <a:ext cx="851203" cy="369332"/>
          </a:xfrm>
          <a:prstGeom prst="rect">
            <a:avLst/>
          </a:prstGeom>
          <a:solidFill>
            <a:srgbClr val="FCD576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SG" dirty="0"/>
              <a:t>1</a:t>
            </a:r>
            <a:endParaRPr kumimoji="1" lang="zh-SG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ED7D72-64B6-BDCF-9219-5A0472C4BFD6}"/>
              </a:ext>
            </a:extLst>
          </p:cNvPr>
          <p:cNvSpPr txBox="1"/>
          <p:nvPr/>
        </p:nvSpPr>
        <p:spPr>
          <a:xfrm>
            <a:off x="5016896" y="3371640"/>
            <a:ext cx="851203" cy="369332"/>
          </a:xfrm>
          <a:prstGeom prst="rect">
            <a:avLst/>
          </a:prstGeom>
          <a:solidFill>
            <a:srgbClr val="FCD576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SG" dirty="0"/>
              <a:t>2</a:t>
            </a:r>
            <a:endParaRPr kumimoji="1" lang="zh-SG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AB052E8-6861-448F-2517-18AA20964A53}"/>
              </a:ext>
            </a:extLst>
          </p:cNvPr>
          <p:cNvSpPr txBox="1"/>
          <p:nvPr/>
        </p:nvSpPr>
        <p:spPr>
          <a:xfrm>
            <a:off x="7585929" y="3371640"/>
            <a:ext cx="851203" cy="369332"/>
          </a:xfrm>
          <a:prstGeom prst="rect">
            <a:avLst/>
          </a:prstGeom>
          <a:solidFill>
            <a:srgbClr val="FCD576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SG" dirty="0"/>
              <a:t>3</a:t>
            </a:r>
            <a:endParaRPr kumimoji="1" lang="zh-SG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E4219B5-4555-5F25-83A4-5768FBB99732}"/>
              </a:ext>
            </a:extLst>
          </p:cNvPr>
          <p:cNvSpPr txBox="1"/>
          <p:nvPr/>
        </p:nvSpPr>
        <p:spPr>
          <a:xfrm>
            <a:off x="2387918" y="6333092"/>
            <a:ext cx="851203" cy="369332"/>
          </a:xfrm>
          <a:prstGeom prst="rect">
            <a:avLst/>
          </a:prstGeom>
          <a:solidFill>
            <a:srgbClr val="FCD576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SG" dirty="0"/>
              <a:t>4</a:t>
            </a:r>
            <a:endParaRPr kumimoji="1" lang="zh-SG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6FC93ED-3E2F-E35E-C57C-F2C9F7D13E49}"/>
              </a:ext>
            </a:extLst>
          </p:cNvPr>
          <p:cNvSpPr txBox="1"/>
          <p:nvPr/>
        </p:nvSpPr>
        <p:spPr>
          <a:xfrm>
            <a:off x="5016896" y="6333092"/>
            <a:ext cx="851203" cy="369332"/>
          </a:xfrm>
          <a:prstGeom prst="rect">
            <a:avLst/>
          </a:prstGeom>
          <a:solidFill>
            <a:srgbClr val="FCD576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SG" dirty="0"/>
              <a:t>5</a:t>
            </a:r>
            <a:endParaRPr kumimoji="1" lang="zh-SG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35A680-70D1-44B0-FF0F-26D07050BE30}"/>
              </a:ext>
            </a:extLst>
          </p:cNvPr>
          <p:cNvSpPr txBox="1"/>
          <p:nvPr/>
        </p:nvSpPr>
        <p:spPr>
          <a:xfrm>
            <a:off x="7585929" y="6333092"/>
            <a:ext cx="851203" cy="369332"/>
          </a:xfrm>
          <a:prstGeom prst="rect">
            <a:avLst/>
          </a:prstGeom>
          <a:solidFill>
            <a:srgbClr val="FCD576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SG" dirty="0"/>
              <a:t>6</a:t>
            </a:r>
            <a:endParaRPr kumimoji="1" lang="zh-SG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CEB5FFF-B9B3-8FC4-FAD8-E2732F070E2C}"/>
                  </a:ext>
                </a:extLst>
              </p14:cNvPr>
              <p14:cNvContentPartPr/>
              <p14:nvPr/>
            </p14:nvContentPartPr>
            <p14:xfrm>
              <a:off x="2971440" y="3297065"/>
              <a:ext cx="769320" cy="5709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CEB5FFF-B9B3-8FC4-FAD8-E2732F070E2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56320" y="3281585"/>
                <a:ext cx="799560" cy="60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C2BB7518-59AB-C688-990F-8184A317F407}"/>
                  </a:ext>
                </a:extLst>
              </p14:cNvPr>
              <p14:cNvContentPartPr/>
              <p14:nvPr/>
            </p14:nvContentPartPr>
            <p14:xfrm>
              <a:off x="5430600" y="3380225"/>
              <a:ext cx="769320" cy="4626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C2BB7518-59AB-C688-990F-8184A317F40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15480" y="3364745"/>
                <a:ext cx="79992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7CE730C6-6FF6-B9B9-59B2-646BFE41BF9B}"/>
                  </a:ext>
                </a:extLst>
              </p14:cNvPr>
              <p14:cNvContentPartPr/>
              <p14:nvPr/>
            </p14:nvContentPartPr>
            <p14:xfrm>
              <a:off x="7640280" y="3082145"/>
              <a:ext cx="1046520" cy="6796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7CE730C6-6FF6-B9B9-59B2-646BFE41BF9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25160" y="3067025"/>
                <a:ext cx="1076760" cy="70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2B68BAE8-4CFF-ED66-4AFD-60B98522B963}"/>
                  </a:ext>
                </a:extLst>
              </p14:cNvPr>
              <p14:cNvContentPartPr/>
              <p14:nvPr/>
            </p14:nvContentPartPr>
            <p14:xfrm>
              <a:off x="3033720" y="5971145"/>
              <a:ext cx="610200" cy="693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2B68BAE8-4CFF-ED66-4AFD-60B98522B96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18240" y="5955665"/>
                <a:ext cx="640800" cy="72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B78E6F09-39E6-119D-BD77-22DE1CA3CF85}"/>
                  </a:ext>
                </a:extLst>
              </p14:cNvPr>
              <p14:cNvContentPartPr/>
              <p14:nvPr/>
            </p14:nvContentPartPr>
            <p14:xfrm>
              <a:off x="5458680" y="6199385"/>
              <a:ext cx="901080" cy="75564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B78E6F09-39E6-119D-BD77-22DE1CA3CF8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43200" y="6184265"/>
                <a:ext cx="931320" cy="78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B4A3C283-82F3-0737-C3B9-D2D34B63643A}"/>
                  </a:ext>
                </a:extLst>
              </p14:cNvPr>
              <p14:cNvContentPartPr/>
              <p14:nvPr/>
            </p14:nvContentPartPr>
            <p14:xfrm>
              <a:off x="7855560" y="5998865"/>
              <a:ext cx="921600" cy="8175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B4A3C283-82F3-0737-C3B9-D2D34B63643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40440" y="5983745"/>
                <a:ext cx="952200" cy="84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1738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E03D1E-1B92-E331-6809-A9B2CDB13B45}"/>
              </a:ext>
            </a:extLst>
          </p:cNvPr>
          <p:cNvSpPr txBox="1"/>
          <p:nvPr/>
        </p:nvSpPr>
        <p:spPr>
          <a:xfrm>
            <a:off x="147737" y="182091"/>
            <a:ext cx="3874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1.2  </a:t>
            </a:r>
            <a:r>
              <a:rPr lang="zh-CN" altLang="en-US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集成开发环境：</a:t>
            </a:r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IDE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82DE7E-C45B-A977-BC14-98D4EF7A6977}"/>
              </a:ext>
            </a:extLst>
          </p:cNvPr>
          <p:cNvSpPr/>
          <p:nvPr/>
        </p:nvSpPr>
        <p:spPr>
          <a:xfrm>
            <a:off x="3877895" y="2412934"/>
            <a:ext cx="1841600" cy="1082672"/>
          </a:xfrm>
          <a:prstGeom prst="rect">
            <a:avLst/>
          </a:prstGeom>
          <a:solidFill>
            <a:srgbClr val="FCD576"/>
          </a:solidFill>
          <a:ln>
            <a:noFill/>
          </a:ln>
          <a:effectLst>
            <a:outerShdw blurRad="139700" dist="203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BF6A85-4EF6-443E-4E2C-6B78EF81C563}"/>
              </a:ext>
            </a:extLst>
          </p:cNvPr>
          <p:cNvSpPr/>
          <p:nvPr/>
        </p:nvSpPr>
        <p:spPr>
          <a:xfrm>
            <a:off x="3877895" y="3681098"/>
            <a:ext cx="1841600" cy="10826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139700" dist="203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06AA99-0B1A-4515-3E8F-8AD36C5FC640}"/>
              </a:ext>
            </a:extLst>
          </p:cNvPr>
          <p:cNvSpPr/>
          <p:nvPr/>
        </p:nvSpPr>
        <p:spPr>
          <a:xfrm>
            <a:off x="5889575" y="2412934"/>
            <a:ext cx="1841600" cy="108267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139700" dist="203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76240E-8CCC-8E79-205B-002AAA0368D0}"/>
              </a:ext>
            </a:extLst>
          </p:cNvPr>
          <p:cNvSpPr/>
          <p:nvPr/>
        </p:nvSpPr>
        <p:spPr>
          <a:xfrm>
            <a:off x="5889575" y="3681098"/>
            <a:ext cx="1841600" cy="1082672"/>
          </a:xfrm>
          <a:prstGeom prst="rect">
            <a:avLst/>
          </a:prstGeom>
          <a:solidFill>
            <a:srgbClr val="FCD576"/>
          </a:solidFill>
          <a:ln>
            <a:noFill/>
          </a:ln>
          <a:effectLst>
            <a:outerShdw blurRad="139700" dist="203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28F928-A04B-F992-E222-37522F68ADFC}"/>
              </a:ext>
            </a:extLst>
          </p:cNvPr>
          <p:cNvSpPr/>
          <p:nvPr/>
        </p:nvSpPr>
        <p:spPr>
          <a:xfrm>
            <a:off x="7901255" y="1812529"/>
            <a:ext cx="1049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VS code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673027D-4920-14B5-73F9-DE66B46E6C38}"/>
              </a:ext>
            </a:extLst>
          </p:cNvPr>
          <p:cNvSpPr/>
          <p:nvPr/>
        </p:nvSpPr>
        <p:spPr>
          <a:xfrm>
            <a:off x="7901255" y="2193141"/>
            <a:ext cx="3793440" cy="116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VSCode 是一款开源、跨平台的代码编辑器，由微软开发。它具有轻量级、高可定制性和丰富的插件生态等特点。并通过插件提</a:t>
            </a:r>
            <a:r>
              <a:rPr lang="zh-CN" alt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的各种</a:t>
            </a:r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功能。VSCode 适用于各种类型的项目开发，从简单的脚本到大型应用程序。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89F1541-A5E5-62DC-70AE-09473A511FF8}"/>
              </a:ext>
            </a:extLst>
          </p:cNvPr>
          <p:cNvSpPr/>
          <p:nvPr/>
        </p:nvSpPr>
        <p:spPr>
          <a:xfrm>
            <a:off x="7901255" y="4136140"/>
            <a:ext cx="615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Vim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38C5495-7B10-0EE5-7B1C-3588D60B1EC6}"/>
              </a:ext>
            </a:extLst>
          </p:cNvPr>
          <p:cNvSpPr/>
          <p:nvPr/>
        </p:nvSpPr>
        <p:spPr>
          <a:xfrm>
            <a:off x="7901305" y="4516755"/>
            <a:ext cx="3872230" cy="116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Vim 是一款经典的文本编辑器，具有高度可定制性、强大的键盘操作和丰富的插件生态等特点。Vim 采用模态编辑方式，分为普通模式、插入模式和命令模式等，可以在不使用鼠标的情况下快速地编辑和导航代码。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443AD22-DBD9-6B7C-B27D-15402D96F06D}"/>
              </a:ext>
            </a:extLst>
          </p:cNvPr>
          <p:cNvSpPr/>
          <p:nvPr/>
        </p:nvSpPr>
        <p:spPr>
          <a:xfrm>
            <a:off x="2583725" y="4136140"/>
            <a:ext cx="11240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b="1" dirty="0">
                <a:solidFill>
                  <a:srgbClr val="0070C0"/>
                </a:solidFill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Pycharm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AF8DB1D-64E7-1CAB-1E86-51937AB166F0}"/>
              </a:ext>
            </a:extLst>
          </p:cNvPr>
          <p:cNvSpPr/>
          <p:nvPr/>
        </p:nvSpPr>
        <p:spPr>
          <a:xfrm>
            <a:off x="193063" y="4516752"/>
            <a:ext cx="3514752" cy="116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PyCharm 是一款专为 Python 语言开发的 IDE，它提供了强大的代码编辑、调试、分析和重构功能。PyCharm 有免费的社区版和付费的专业版，后者提供更多的功能和支持。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912D006-F622-94C3-7CAE-DDBE851117AD}"/>
              </a:ext>
            </a:extLst>
          </p:cNvPr>
          <p:cNvSpPr/>
          <p:nvPr/>
        </p:nvSpPr>
        <p:spPr>
          <a:xfrm>
            <a:off x="2319806" y="1724899"/>
            <a:ext cx="20235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Jupyter Notebook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D000949-EF83-DC0C-F1C9-1598B793E733}"/>
              </a:ext>
            </a:extLst>
          </p:cNvPr>
          <p:cNvSpPr/>
          <p:nvPr/>
        </p:nvSpPr>
        <p:spPr>
          <a:xfrm>
            <a:off x="569431" y="2193141"/>
            <a:ext cx="3138384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Jupyter Notebook 是一个基于 Web 的交互式计算环境，主要用于数据科学、机器学习和统计分析等领域。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470EACA6-2627-BBD6-80D4-546612D10C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745" y="3598233"/>
            <a:ext cx="584792" cy="584792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6016E6A6-07C5-AADC-184F-94BE8069407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clrChange>
              <a:clrFrom>
                <a:srgbClr val="E6E6E6">
                  <a:alpha val="100000"/>
                </a:srgbClr>
              </a:clrFrom>
              <a:clrTo>
                <a:srgbClr val="E6E6E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25315" y="2513264"/>
            <a:ext cx="746760" cy="78486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159DEBE8-5471-5661-C3D2-6863D82AF52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79210" y="2531679"/>
            <a:ext cx="862330" cy="84518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09AA6FAD-C4E1-6E42-020A-D6948C72E74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55080" y="3776914"/>
            <a:ext cx="886460" cy="89090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5A80FC58-D976-47D3-43F0-DDDA2F1A2B9A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4262755" y="3740084"/>
            <a:ext cx="1072515" cy="96456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4267861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E03D1E-1B92-E331-6809-A9B2CDB13B45}"/>
              </a:ext>
            </a:extLst>
          </p:cNvPr>
          <p:cNvSpPr txBox="1"/>
          <p:nvPr/>
        </p:nvSpPr>
        <p:spPr>
          <a:xfrm>
            <a:off x="147737" y="182091"/>
            <a:ext cx="3874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1.2  </a:t>
            </a:r>
            <a:r>
              <a:rPr lang="zh-CN" altLang="en-US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集成开发环境：</a:t>
            </a:r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IDE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D74AAC-D513-DB52-FF24-7B44024FA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1164861"/>
            <a:ext cx="9156168" cy="514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83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E03D1E-1B92-E331-6809-A9B2CDB13B45}"/>
              </a:ext>
            </a:extLst>
          </p:cNvPr>
          <p:cNvSpPr txBox="1"/>
          <p:nvPr/>
        </p:nvSpPr>
        <p:spPr>
          <a:xfrm>
            <a:off x="147737" y="182091"/>
            <a:ext cx="3874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1.2  </a:t>
            </a:r>
            <a:r>
              <a:rPr lang="zh-CN" altLang="en-US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集成开发环境：</a:t>
            </a:r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IDE</a:t>
            </a:r>
          </a:p>
        </p:txBody>
      </p:sp>
      <p:pic>
        <p:nvPicPr>
          <p:cNvPr id="5" name="图片 4" descr="图形用户界面, 应用程序&#10;&#10;描述已自动生成">
            <a:extLst>
              <a:ext uri="{FF2B5EF4-FFF2-40B4-BE49-F238E27FC236}">
                <a16:creationId xmlns:a16="http://schemas.microsoft.com/office/drawing/2014/main" id="{B906F44B-DF67-5A31-508F-F52DE7E3B6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59" b="10743"/>
          <a:stretch/>
        </p:blipFill>
        <p:spPr>
          <a:xfrm>
            <a:off x="466974" y="1243445"/>
            <a:ext cx="4175228" cy="445281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3DBF72D-6677-6B02-1D55-676CF1C2C1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33"/>
          <a:stretch/>
        </p:blipFill>
        <p:spPr>
          <a:xfrm>
            <a:off x="4801742" y="1243445"/>
            <a:ext cx="3302762" cy="44528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84B8381-01BD-20E9-5CC1-4968F5561E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087"/>
          <a:stretch/>
        </p:blipFill>
        <p:spPr>
          <a:xfrm>
            <a:off x="8104504" y="752475"/>
            <a:ext cx="3484622" cy="494378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E392BEC-F8BD-BF33-A4F9-B76F140A798A}"/>
              </a:ext>
            </a:extLst>
          </p:cNvPr>
          <p:cNvSpPr txBox="1"/>
          <p:nvPr/>
        </p:nvSpPr>
        <p:spPr>
          <a:xfrm>
            <a:off x="5612004" y="273134"/>
            <a:ext cx="6099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SG" altLang="en-US" dirty="0"/>
              <a:t>https://code.visualstudio.com/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847E15A2-0540-D41A-EA75-44411DABD395}"/>
                  </a:ext>
                </a:extLst>
              </p14:cNvPr>
              <p14:cNvContentPartPr/>
              <p14:nvPr/>
            </p14:nvContentPartPr>
            <p14:xfrm>
              <a:off x="1367640" y="3951545"/>
              <a:ext cx="360" cy="36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847E15A2-0540-D41A-EA75-44411DABD3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58640" y="394290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931A0ABE-5FB5-54A1-9509-8BD7494A70B0}"/>
                  </a:ext>
                </a:extLst>
              </p14:cNvPr>
              <p14:cNvContentPartPr/>
              <p14:nvPr/>
            </p14:nvContentPartPr>
            <p14:xfrm>
              <a:off x="2348640" y="3910145"/>
              <a:ext cx="360" cy="3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931A0ABE-5FB5-54A1-9509-8BD7494A70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40000" y="390150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9103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51C17E-30F3-38A5-1F73-9BDC2BAEDCF5}"/>
              </a:ext>
            </a:extLst>
          </p:cNvPr>
          <p:cNvSpPr txBox="1"/>
          <p:nvPr/>
        </p:nvSpPr>
        <p:spPr>
          <a:xfrm>
            <a:off x="155575" y="176213"/>
            <a:ext cx="3966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1.3   pytorch2.0</a:t>
            </a:r>
            <a:r>
              <a:rPr lang="zh-CN" altLang="en-US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下载安装</a:t>
            </a:r>
          </a:p>
        </p:txBody>
      </p:sp>
      <p:cxnSp>
        <p:nvCxnSpPr>
          <p:cNvPr id="4" name="直接连接符 5">
            <a:extLst>
              <a:ext uri="{FF2B5EF4-FFF2-40B4-BE49-F238E27FC236}">
                <a16:creationId xmlns:a16="http://schemas.microsoft.com/office/drawing/2014/main" id="{FAC1F483-BC59-04A7-1007-0535F1CC8722}"/>
              </a:ext>
            </a:extLst>
          </p:cNvPr>
          <p:cNvCxnSpPr>
            <a:cxnSpLocks/>
          </p:cNvCxnSpPr>
          <p:nvPr/>
        </p:nvCxnSpPr>
        <p:spPr>
          <a:xfrm>
            <a:off x="101600" y="3719914"/>
            <a:ext cx="78263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B69949D-E073-35F7-D6BD-8C557D01AFF7}"/>
              </a:ext>
            </a:extLst>
          </p:cNvPr>
          <p:cNvSpPr txBox="1"/>
          <p:nvPr/>
        </p:nvSpPr>
        <p:spPr>
          <a:xfrm>
            <a:off x="319405" y="3839210"/>
            <a:ext cx="3722370" cy="2269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/>
              <a:t>计算资源依赖：</a:t>
            </a:r>
          </a:p>
          <a:p>
            <a:endParaRPr lang="zh-CN" altLang="en-US"/>
          </a:p>
          <a:p>
            <a:r>
              <a:rPr lang="zh-CN" altLang="en-US"/>
              <a:t>CPU 版本：CPU 版本的 PyTorch 主要依赖于计算机的中央处理器（Central Processing Unit，CPU）</a:t>
            </a:r>
          </a:p>
          <a:p>
            <a:endParaRPr lang="zh-CN" altLang="en-US"/>
          </a:p>
          <a:p>
            <a:r>
              <a:rPr lang="zh-CN" altLang="en-US"/>
              <a:t>GPU 版本：GPU 版本的 PyTorch 则依赖于图形处理器</a:t>
            </a:r>
          </a:p>
          <a:p>
            <a:r>
              <a:rPr lang="zh-CN" altLang="en-US"/>
              <a:t>（Graphics Processing Unit，GPU）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8B08E9-4436-5193-B15F-1E23151453D1}"/>
              </a:ext>
            </a:extLst>
          </p:cNvPr>
          <p:cNvSpPr txBox="1"/>
          <p:nvPr/>
        </p:nvSpPr>
        <p:spPr>
          <a:xfrm>
            <a:off x="4121785" y="3839210"/>
            <a:ext cx="370268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性能表现：</a:t>
            </a:r>
          </a:p>
          <a:p>
            <a:endParaRPr lang="zh-CN" altLang="en-US" dirty="0"/>
          </a:p>
          <a:p>
            <a:r>
              <a:rPr lang="zh-CN" altLang="en-US" dirty="0"/>
              <a:t>CPU 版本：CPU 版本的 PyTorch 在处理规模较小的模型和数据集时表现良好。</a:t>
            </a:r>
          </a:p>
          <a:p>
            <a:endParaRPr lang="zh-CN" altLang="en-US" dirty="0"/>
          </a:p>
          <a:p>
            <a:r>
              <a:rPr lang="zh-CN" altLang="en-US" dirty="0"/>
              <a:t>GPU 版本：GPU 版本的 PyTorch 可以充分利用 GPU 的并行计算能力，显著提高计算速度。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4F4972F-EA8D-63DA-AEDA-BCA6DFB29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842671"/>
            <a:ext cx="7772400" cy="275794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965BE0A-8015-4BDA-0FE7-51DC413A0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470" y="842671"/>
            <a:ext cx="4403669" cy="587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03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-966956" y="155575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1.4   </a:t>
            </a:r>
            <a:r>
              <a:rPr lang="zh-SG" altLang="en-US" sz="2400" dirty="0">
                <a:sym typeface="+mn-ea"/>
              </a:rPr>
              <a:t>环境测试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05BF3D3-16C4-E8BE-B20D-3CBBD9243F65}"/>
              </a:ext>
            </a:extLst>
          </p:cNvPr>
          <p:cNvSpPr txBox="1"/>
          <p:nvPr/>
        </p:nvSpPr>
        <p:spPr>
          <a:xfrm>
            <a:off x="1439694" y="1164134"/>
            <a:ext cx="88716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SG" sz="2800" dirty="0"/>
              <a:t>conda –-version</a:t>
            </a:r>
          </a:p>
          <a:p>
            <a:pPr>
              <a:lnSpc>
                <a:spcPct val="150000"/>
              </a:lnSpc>
            </a:pPr>
            <a:r>
              <a:rPr kumimoji="1" lang="en-US" altLang="zh-SG" sz="2800" dirty="0"/>
              <a:t>conda  env list</a:t>
            </a:r>
          </a:p>
          <a:p>
            <a:pPr>
              <a:lnSpc>
                <a:spcPct val="150000"/>
              </a:lnSpc>
            </a:pPr>
            <a:r>
              <a:rPr kumimoji="1" lang="en-US" altLang="zh-SG" sz="2800" dirty="0"/>
              <a:t>conda create –n </a:t>
            </a:r>
            <a:r>
              <a:rPr kumimoji="1" lang="en-US" altLang="zh-SG" sz="2800" dirty="0" err="1"/>
              <a:t>pytorch.cpu</a:t>
            </a:r>
            <a:r>
              <a:rPr kumimoji="1" lang="en-US" altLang="zh-SG" sz="2800" dirty="0"/>
              <a:t> python==3.10</a:t>
            </a:r>
          </a:p>
          <a:p>
            <a:pPr>
              <a:lnSpc>
                <a:spcPct val="150000"/>
              </a:lnSpc>
            </a:pPr>
            <a:r>
              <a:rPr kumimoji="1" lang="en-US" altLang="zh-SG" sz="2800" dirty="0"/>
              <a:t>conda activate </a:t>
            </a:r>
            <a:r>
              <a:rPr kumimoji="1" lang="en-US" altLang="zh-SG" sz="2800" dirty="0" err="1"/>
              <a:t>pytorch.cpu</a:t>
            </a:r>
            <a:r>
              <a:rPr kumimoji="1" lang="en-US" altLang="zh-SG" sz="2800" dirty="0"/>
              <a:t> </a:t>
            </a:r>
          </a:p>
          <a:p>
            <a:pPr>
              <a:lnSpc>
                <a:spcPct val="150000"/>
              </a:lnSpc>
            </a:pPr>
            <a:r>
              <a:rPr kumimoji="1" lang="en-US" altLang="zh-SG" sz="2800" dirty="0"/>
              <a:t>conda list</a:t>
            </a:r>
          </a:p>
          <a:p>
            <a:pPr>
              <a:lnSpc>
                <a:spcPct val="150000"/>
              </a:lnSpc>
            </a:pPr>
            <a:r>
              <a:rPr kumimoji="1" lang="en-US" altLang="zh-SG" sz="2800" dirty="0"/>
              <a:t>python</a:t>
            </a:r>
          </a:p>
          <a:p>
            <a:pPr>
              <a:lnSpc>
                <a:spcPct val="150000"/>
              </a:lnSpc>
            </a:pPr>
            <a:r>
              <a:rPr kumimoji="1" lang="en-US" altLang="zh-SG" sz="2800" dirty="0"/>
              <a:t>import torch</a:t>
            </a:r>
          </a:p>
          <a:p>
            <a:pPr>
              <a:lnSpc>
                <a:spcPct val="150000"/>
              </a:lnSpc>
            </a:pPr>
            <a:r>
              <a:rPr kumimoji="1" lang="en-US" altLang="zh-SG" sz="2800" dirty="0" err="1"/>
              <a:t>torch.cuda.is_available</a:t>
            </a:r>
            <a:r>
              <a:rPr kumimoji="1" lang="en-US" altLang="zh-SG" sz="2800" dirty="0"/>
              <a:t>()</a:t>
            </a:r>
          </a:p>
          <a:p>
            <a:endParaRPr kumimoji="1" lang="zh-SG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81450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FA3C8630-505C-5487-5D6F-9057FB167640}"/>
              </a:ext>
            </a:extLst>
          </p:cNvPr>
          <p:cNvSpPr txBox="1"/>
          <p:nvPr/>
        </p:nvSpPr>
        <p:spPr>
          <a:xfrm>
            <a:off x="4143364" y="4929505"/>
            <a:ext cx="3651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  <a:sym typeface="+mn-ea"/>
              </a:rPr>
              <a:t>速通神经网络</a:t>
            </a:r>
            <a:r>
              <a:rPr lang="en-US" altLang="zh-CN" sz="2400" dirty="0"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  <a:sym typeface="+mn-ea"/>
              </a:rPr>
              <a:t> &amp; </a:t>
            </a:r>
            <a:r>
              <a:rPr lang="zh-CN" altLang="en-US" sz="2400" dirty="0"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  <a:sym typeface="+mn-ea"/>
              </a:rPr>
              <a:t>数学基础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1" name="直接连接符 62">
            <a:extLst>
              <a:ext uri="{FF2B5EF4-FFF2-40B4-BE49-F238E27FC236}">
                <a16:creationId xmlns:a16="http://schemas.microsoft.com/office/drawing/2014/main" id="{455A10FD-CEC7-C62C-2C37-D02087838156}"/>
              </a:ext>
            </a:extLst>
          </p:cNvPr>
          <p:cNvCxnSpPr/>
          <p:nvPr/>
        </p:nvCxnSpPr>
        <p:spPr>
          <a:xfrm>
            <a:off x="5047737" y="5551409"/>
            <a:ext cx="2172727" cy="10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336CB883-A6FB-0700-7F6B-19EBC817D192}"/>
              </a:ext>
            </a:extLst>
          </p:cNvPr>
          <p:cNvSpPr txBox="1"/>
          <p:nvPr/>
        </p:nvSpPr>
        <p:spPr>
          <a:xfrm>
            <a:off x="5257800" y="1613266"/>
            <a:ext cx="52959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9900" dirty="0"/>
              <a:t>2</a:t>
            </a:r>
            <a:endParaRPr kumimoji="1" lang="zh-SG" altLang="en-US" sz="19900" dirty="0"/>
          </a:p>
        </p:txBody>
      </p:sp>
    </p:spTree>
    <p:extLst>
      <p:ext uri="{BB962C8B-B14F-4D97-AF65-F5344CB8AC3E}">
        <p14:creationId xmlns:p14="http://schemas.microsoft.com/office/powerpoint/2010/main" val="58373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-613388" y="146049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2.1   </a:t>
            </a:r>
            <a:r>
              <a:rPr lang="zh-SG" altLang="en-US" sz="2400" dirty="0">
                <a:sym typeface="+mn-ea"/>
              </a:rPr>
              <a:t>神经网络结构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6849C8-ECB2-F37E-6AE7-F9FC4F05A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186" y="2961639"/>
            <a:ext cx="5920550" cy="324413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5D4C34D-D20C-F7E9-C74C-2094358C4F74}"/>
              </a:ext>
            </a:extLst>
          </p:cNvPr>
          <p:cNvSpPr/>
          <p:nvPr/>
        </p:nvSpPr>
        <p:spPr>
          <a:xfrm>
            <a:off x="654608" y="1475487"/>
            <a:ext cx="1057450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神经网络（Neural Network）是一种模仿生物神经系统的计算模型，用于解决分类、回归、生成等机器学习问题。神经网络的层级结构通常包括输入层、隐藏层和输出层，每一层都由若干个神经元（或称为节点）组成，其中每个节点又被成为感知机模型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E87FF5-F46E-71C4-8E57-1DB5698FBC8F}"/>
              </a:ext>
            </a:extLst>
          </p:cNvPr>
          <p:cNvSpPr/>
          <p:nvPr/>
        </p:nvSpPr>
        <p:spPr>
          <a:xfrm>
            <a:off x="3016186" y="2731008"/>
            <a:ext cx="1031558" cy="37795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4B397A-7E42-5A63-1BD2-C54D58DB6B02}"/>
              </a:ext>
            </a:extLst>
          </p:cNvPr>
          <p:cNvSpPr/>
          <p:nvPr/>
        </p:nvSpPr>
        <p:spPr>
          <a:xfrm>
            <a:off x="7628479" y="3791712"/>
            <a:ext cx="1031558" cy="159080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06CB80-60CD-9E12-03E0-C9BB4591AAE4}"/>
              </a:ext>
            </a:extLst>
          </p:cNvPr>
          <p:cNvSpPr/>
          <p:nvPr/>
        </p:nvSpPr>
        <p:spPr>
          <a:xfrm>
            <a:off x="4199912" y="2961639"/>
            <a:ext cx="2326394" cy="32441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8B66A7-26BD-C765-9F74-EDF30188FF03}"/>
              </a:ext>
            </a:extLst>
          </p:cNvPr>
          <p:cNvSpPr/>
          <p:nvPr/>
        </p:nvSpPr>
        <p:spPr>
          <a:xfrm>
            <a:off x="6621493" y="3148686"/>
            <a:ext cx="895838" cy="283822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EE17E58-1335-2E76-8B0D-0C4E5E4C1B61}"/>
              </a:ext>
            </a:extLst>
          </p:cNvPr>
          <p:cNvSpPr txBox="1"/>
          <p:nvPr/>
        </p:nvSpPr>
        <p:spPr>
          <a:xfrm>
            <a:off x="3016186" y="6067075"/>
            <a:ext cx="1031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SG" altLang="en-US" dirty="0"/>
              <a:t>输入层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338D8D-FF98-3D2C-51AB-AA39EE09D54E}"/>
              </a:ext>
            </a:extLst>
          </p:cNvPr>
          <p:cNvSpPr txBox="1"/>
          <p:nvPr/>
        </p:nvSpPr>
        <p:spPr>
          <a:xfrm>
            <a:off x="5026563" y="5856009"/>
            <a:ext cx="1031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SG" altLang="en-US" dirty="0"/>
              <a:t>隐藏层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0CE35C9-F42A-3B36-E6F1-D6283EAB7285}"/>
              </a:ext>
            </a:extLst>
          </p:cNvPr>
          <p:cNvSpPr txBox="1"/>
          <p:nvPr/>
        </p:nvSpPr>
        <p:spPr>
          <a:xfrm>
            <a:off x="6633104" y="5774097"/>
            <a:ext cx="1031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SG" altLang="en-US" dirty="0"/>
              <a:t>输出层</a:t>
            </a:r>
          </a:p>
        </p:txBody>
      </p:sp>
    </p:spTree>
    <p:extLst>
      <p:ext uri="{BB962C8B-B14F-4D97-AF65-F5344CB8AC3E}">
        <p14:creationId xmlns:p14="http://schemas.microsoft.com/office/powerpoint/2010/main" val="242092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-613388" y="146049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2.1   </a:t>
            </a:r>
            <a:r>
              <a:rPr lang="zh-SG" altLang="en-US" sz="2400" dirty="0">
                <a:sym typeface="+mn-ea"/>
              </a:rPr>
              <a:t>神经网络结构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D079E23-FE7A-DE11-B620-4B1306A4D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42" y="1761837"/>
            <a:ext cx="7020215" cy="33086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3F490E6-9401-7517-11B9-3A04DDCEE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194" y="1761837"/>
            <a:ext cx="4472806" cy="13305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8E4B715-7161-69D3-711E-2138ADA02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194" y="3809938"/>
            <a:ext cx="43053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60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-613388" y="146049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2.1   </a:t>
            </a:r>
            <a:r>
              <a:rPr lang="zh-SG" altLang="en-US" sz="2400" dirty="0">
                <a:sym typeface="+mn-ea"/>
              </a:rPr>
              <a:t>神经网络结构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4C3F284-A8B9-C100-ADF1-D6C9E4A7393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196840" y="3203575"/>
            <a:ext cx="363220" cy="4222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A8F4708-2903-25CE-0A73-9FEEF43FE54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872105" y="1722120"/>
            <a:ext cx="363220" cy="422275"/>
          </a:xfrm>
          <a:prstGeom prst="ellipse">
            <a:avLst/>
          </a:prstGeom>
          <a:ln>
            <a:solidFill>
              <a:srgbClr val="0E3E7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E2A60C3-6922-B50E-53FE-E45EFB45A4D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872105" y="2673985"/>
            <a:ext cx="363220" cy="422275"/>
          </a:xfrm>
          <a:prstGeom prst="ellipse">
            <a:avLst/>
          </a:prstGeom>
          <a:ln>
            <a:solidFill>
              <a:srgbClr val="0E3E7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5C6F4FF-62EF-41A1-1372-7F884493EF5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872105" y="3625850"/>
            <a:ext cx="363220" cy="422275"/>
          </a:xfrm>
          <a:prstGeom prst="ellipse">
            <a:avLst/>
          </a:prstGeom>
          <a:ln>
            <a:solidFill>
              <a:srgbClr val="0E3E7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6B13AE5-5097-8B61-65CF-991FE954376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872105" y="4577715"/>
            <a:ext cx="363220" cy="422275"/>
          </a:xfrm>
          <a:prstGeom prst="ellipse">
            <a:avLst/>
          </a:prstGeom>
          <a:ln>
            <a:solidFill>
              <a:srgbClr val="0E3E7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1" name="直接箭头连接符 11">
            <a:extLst>
              <a:ext uri="{FF2B5EF4-FFF2-40B4-BE49-F238E27FC236}">
                <a16:creationId xmlns:a16="http://schemas.microsoft.com/office/drawing/2014/main" id="{FB673F17-D9F5-10B8-0FEC-5B3ABF58C84C}"/>
              </a:ext>
            </a:extLst>
          </p:cNvPr>
          <p:cNvCxnSpPr>
            <a:stCxn id="5" idx="6"/>
            <a:endCxn id="3" idx="2"/>
          </p:cNvCxnSpPr>
          <p:nvPr>
            <p:custDataLst>
              <p:tags r:id="rId6"/>
            </p:custDataLst>
          </p:nvPr>
        </p:nvCxnSpPr>
        <p:spPr>
          <a:xfrm>
            <a:off x="3235325" y="1933575"/>
            <a:ext cx="1961515" cy="148145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CC015D0-F73C-CC3F-D986-F9ABF4324376}"/>
              </a:ext>
            </a:extLst>
          </p:cNvPr>
          <p:cNvCxnSpPr>
            <a:stCxn id="6" idx="6"/>
            <a:endCxn id="3" idx="2"/>
          </p:cNvCxnSpPr>
          <p:nvPr>
            <p:custDataLst>
              <p:tags r:id="rId7"/>
            </p:custDataLst>
          </p:nvPr>
        </p:nvCxnSpPr>
        <p:spPr>
          <a:xfrm>
            <a:off x="3235325" y="2885440"/>
            <a:ext cx="1961515" cy="52959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E84902E-E289-E202-34A5-D8799F048A5F}"/>
              </a:ext>
            </a:extLst>
          </p:cNvPr>
          <p:cNvCxnSpPr>
            <a:stCxn id="7" idx="6"/>
            <a:endCxn id="3" idx="2"/>
          </p:cNvCxnSpPr>
          <p:nvPr>
            <p:custDataLst>
              <p:tags r:id="rId8"/>
            </p:custDataLst>
          </p:nvPr>
        </p:nvCxnSpPr>
        <p:spPr>
          <a:xfrm flipV="1">
            <a:off x="3235325" y="3415030"/>
            <a:ext cx="1961515" cy="42227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957A29E-30F0-F17D-A1EA-E585A93591EF}"/>
              </a:ext>
            </a:extLst>
          </p:cNvPr>
          <p:cNvCxnSpPr>
            <a:stCxn id="10" idx="6"/>
            <a:endCxn id="3" idx="2"/>
          </p:cNvCxnSpPr>
          <p:nvPr>
            <p:custDataLst>
              <p:tags r:id="rId9"/>
            </p:custDataLst>
          </p:nvPr>
        </p:nvCxnSpPr>
        <p:spPr>
          <a:xfrm flipV="1">
            <a:off x="3235325" y="3415030"/>
            <a:ext cx="1961515" cy="137414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ED21A4D-51BB-D3B7-A2BB-AAFB87F7F6C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379980" y="1722120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X1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3B866A2-D1C5-044B-8E1A-89A1CFF2A27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379980" y="2673985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X2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BAE7B44-7C6E-118D-85A6-BBF2245CF3B8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379980" y="3625850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X3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609096-6005-DC0A-230D-F2CF4CEDACC0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2379980" y="4577715"/>
            <a:ext cx="563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 b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9C2677-4455-9086-F018-7B7095030C9F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3644265" y="3311525"/>
            <a:ext cx="780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W3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3381BB-8085-E66E-943A-61044E814761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626485" y="2673985"/>
            <a:ext cx="655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W2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092407-01C8-D7F9-607D-B27F6B1EAD2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3626485" y="1932940"/>
            <a:ext cx="655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W1</a:t>
            </a:r>
          </a:p>
        </p:txBody>
      </p:sp>
      <p:cxnSp>
        <p:nvCxnSpPr>
          <p:cNvPr id="23" name="直接箭头连接符 24">
            <a:extLst>
              <a:ext uri="{FF2B5EF4-FFF2-40B4-BE49-F238E27FC236}">
                <a16:creationId xmlns:a16="http://schemas.microsoft.com/office/drawing/2014/main" id="{51059C80-84ED-91B0-9A22-5144037BA863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>
            <a:off x="5560060" y="3417570"/>
            <a:ext cx="1541145" cy="635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7DC9158-C5ED-5FB2-1AB8-5379B8F4E167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7307580" y="3164205"/>
            <a:ext cx="655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y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57289E4-A030-3ACD-D888-59523E60C10A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8458200" y="2673985"/>
            <a:ext cx="189547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31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-613388" y="146049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2.1   </a:t>
            </a:r>
            <a:r>
              <a:rPr lang="zh-SG" altLang="en-US" sz="2400" dirty="0">
                <a:sym typeface="+mn-ea"/>
              </a:rPr>
              <a:t>神经网络结构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4C3F284-A8B9-C100-ADF1-D6C9E4A7393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75668" y="2397918"/>
            <a:ext cx="363220" cy="4222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A8F4708-2903-25CE-0A73-9FEEF43FE54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150933" y="2026821"/>
            <a:ext cx="363220" cy="422275"/>
          </a:xfrm>
          <a:prstGeom prst="ellipse">
            <a:avLst/>
          </a:prstGeom>
          <a:ln>
            <a:solidFill>
              <a:srgbClr val="0E3E7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E2A60C3-6922-B50E-53FE-E45EFB45A4D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150933" y="2978686"/>
            <a:ext cx="363220" cy="422275"/>
          </a:xfrm>
          <a:prstGeom prst="ellipse">
            <a:avLst/>
          </a:prstGeom>
          <a:ln>
            <a:solidFill>
              <a:srgbClr val="0E3E7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5C6F4FF-62EF-41A1-1372-7F884493EF5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50933" y="3930551"/>
            <a:ext cx="363220" cy="422275"/>
          </a:xfrm>
          <a:prstGeom prst="ellipse">
            <a:avLst/>
          </a:prstGeom>
          <a:ln>
            <a:solidFill>
              <a:srgbClr val="0E3E7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1" name="直接箭头连接符 11">
            <a:extLst>
              <a:ext uri="{FF2B5EF4-FFF2-40B4-BE49-F238E27FC236}">
                <a16:creationId xmlns:a16="http://schemas.microsoft.com/office/drawing/2014/main" id="{FB673F17-D9F5-10B8-0FEC-5B3ABF58C84C}"/>
              </a:ext>
            </a:extLst>
          </p:cNvPr>
          <p:cNvCxnSpPr>
            <a:cxnSpLocks/>
            <a:stCxn id="5" idx="6"/>
            <a:endCxn id="3" idx="2"/>
          </p:cNvCxnSpPr>
          <p:nvPr>
            <p:custDataLst>
              <p:tags r:id="rId5"/>
            </p:custDataLst>
          </p:nvPr>
        </p:nvCxnSpPr>
        <p:spPr>
          <a:xfrm>
            <a:off x="1514153" y="2237959"/>
            <a:ext cx="1961515" cy="371097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CC015D0-F73C-CC3F-D986-F9ABF4324376}"/>
              </a:ext>
            </a:extLst>
          </p:cNvPr>
          <p:cNvCxnSpPr>
            <a:cxnSpLocks/>
            <a:stCxn id="6" idx="6"/>
            <a:endCxn id="3" idx="2"/>
          </p:cNvCxnSpPr>
          <p:nvPr>
            <p:custDataLst>
              <p:tags r:id="rId6"/>
            </p:custDataLst>
          </p:nvPr>
        </p:nvCxnSpPr>
        <p:spPr>
          <a:xfrm flipV="1">
            <a:off x="1514153" y="2609056"/>
            <a:ext cx="1961515" cy="580768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E84902E-E289-E202-34A5-D8799F048A5F}"/>
              </a:ext>
            </a:extLst>
          </p:cNvPr>
          <p:cNvCxnSpPr>
            <a:cxnSpLocks/>
            <a:stCxn id="7" idx="6"/>
            <a:endCxn id="3" idx="2"/>
          </p:cNvCxnSpPr>
          <p:nvPr>
            <p:custDataLst>
              <p:tags r:id="rId7"/>
            </p:custDataLst>
          </p:nvPr>
        </p:nvCxnSpPr>
        <p:spPr>
          <a:xfrm flipV="1">
            <a:off x="1514153" y="2609056"/>
            <a:ext cx="1961515" cy="1532633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ED21A4D-51BB-D3B7-A2BB-AAFB87F7F6C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58808" y="2026821"/>
            <a:ext cx="626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X01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3B866A2-D1C5-044B-8E1A-89A1CFF2A27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58808" y="2978686"/>
            <a:ext cx="626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X02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BAE7B44-7C6E-118D-85A6-BBF2245CF3B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58808" y="3930551"/>
            <a:ext cx="67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X03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9C2677-4455-9086-F018-7B7095030C9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515105" y="2837973"/>
            <a:ext cx="780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W13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3381BB-8085-E66E-943A-61044E81476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503284" y="3651891"/>
            <a:ext cx="655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W12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092407-01C8-D7F9-607D-B27F6B1EAD22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622184" y="2117624"/>
            <a:ext cx="655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W11</a:t>
            </a:r>
          </a:p>
        </p:txBody>
      </p:sp>
      <p:cxnSp>
        <p:nvCxnSpPr>
          <p:cNvPr id="23" name="直接箭头连接符 24">
            <a:extLst>
              <a:ext uri="{FF2B5EF4-FFF2-40B4-BE49-F238E27FC236}">
                <a16:creationId xmlns:a16="http://schemas.microsoft.com/office/drawing/2014/main" id="{51059C80-84ED-91B0-9A22-5144037BA863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>
          <a:xfrm>
            <a:off x="3893985" y="2612937"/>
            <a:ext cx="1598295" cy="731497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7DC9158-C5ED-5FB2-1AB8-5379B8F4E167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668455" y="3067279"/>
            <a:ext cx="655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y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9F936DF-7589-3CE5-692B-75D9B9B0430E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927559" y="2667062"/>
            <a:ext cx="3251491" cy="2141855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36943F26-39E5-420F-54E5-AAA819F6D1D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477573" y="3872978"/>
            <a:ext cx="363220" cy="42227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6" name="直接箭头连接符 24">
            <a:extLst>
              <a:ext uri="{FF2B5EF4-FFF2-40B4-BE49-F238E27FC236}">
                <a16:creationId xmlns:a16="http://schemas.microsoft.com/office/drawing/2014/main" id="{D8980FEB-9D7C-703D-BFB4-B386F48D1F88}"/>
              </a:ext>
            </a:extLst>
          </p:cNvPr>
          <p:cNvCxnSpPr>
            <a:cxnSpLocks/>
          </p:cNvCxnSpPr>
          <p:nvPr>
            <p:custDataLst>
              <p:tags r:id="rId17"/>
            </p:custDataLst>
          </p:nvPr>
        </p:nvCxnSpPr>
        <p:spPr>
          <a:xfrm flipV="1">
            <a:off x="4026889" y="3447137"/>
            <a:ext cx="1465391" cy="638002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11">
            <a:extLst>
              <a:ext uri="{FF2B5EF4-FFF2-40B4-BE49-F238E27FC236}">
                <a16:creationId xmlns:a16="http://schemas.microsoft.com/office/drawing/2014/main" id="{F5B4B5C7-ADC7-9AC8-A3C2-41C487268253}"/>
              </a:ext>
            </a:extLst>
          </p:cNvPr>
          <p:cNvCxnSpPr>
            <a:cxnSpLocks/>
            <a:stCxn id="5" idx="6"/>
            <a:endCxn id="8" idx="1"/>
          </p:cNvCxnSpPr>
          <p:nvPr>
            <p:custDataLst>
              <p:tags r:id="rId18"/>
            </p:custDataLst>
          </p:nvPr>
        </p:nvCxnSpPr>
        <p:spPr>
          <a:xfrm>
            <a:off x="1514153" y="2237959"/>
            <a:ext cx="2016612" cy="169686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直接箭头连接符 12">
            <a:extLst>
              <a:ext uri="{FF2B5EF4-FFF2-40B4-BE49-F238E27FC236}">
                <a16:creationId xmlns:a16="http://schemas.microsoft.com/office/drawing/2014/main" id="{319C18B5-BC6F-7281-61FD-BFE42B9BFE33}"/>
              </a:ext>
            </a:extLst>
          </p:cNvPr>
          <p:cNvCxnSpPr>
            <a:cxnSpLocks/>
            <a:stCxn id="6" idx="6"/>
            <a:endCxn id="8" idx="1"/>
          </p:cNvCxnSpPr>
          <p:nvPr>
            <p:custDataLst>
              <p:tags r:id="rId19"/>
            </p:custDataLst>
          </p:nvPr>
        </p:nvCxnSpPr>
        <p:spPr>
          <a:xfrm>
            <a:off x="1514153" y="3189824"/>
            <a:ext cx="2016612" cy="74499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直接箭头连接符 13">
            <a:extLst>
              <a:ext uri="{FF2B5EF4-FFF2-40B4-BE49-F238E27FC236}">
                <a16:creationId xmlns:a16="http://schemas.microsoft.com/office/drawing/2014/main" id="{FF80E914-5CD9-E3E8-2AE6-190DDA056B5B}"/>
              </a:ext>
            </a:extLst>
          </p:cNvPr>
          <p:cNvCxnSpPr>
            <a:cxnSpLocks/>
            <a:stCxn id="7" idx="6"/>
            <a:endCxn id="8" idx="1"/>
          </p:cNvCxnSpPr>
          <p:nvPr>
            <p:custDataLst>
              <p:tags r:id="rId20"/>
            </p:custDataLst>
          </p:nvPr>
        </p:nvCxnSpPr>
        <p:spPr>
          <a:xfrm flipV="1">
            <a:off x="1514153" y="3934819"/>
            <a:ext cx="2016612" cy="20687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CDC0647F-204D-B572-2BAA-3824D05606DC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771815" y="3194021"/>
            <a:ext cx="655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W22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4D81B6F-A0B9-750C-DBE1-7519A66DFDD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93626" y="2493660"/>
            <a:ext cx="655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W21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A80B975-821A-7C8B-48AB-F5EB93F56BDA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824465" y="3888785"/>
            <a:ext cx="655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w23</a:t>
            </a:r>
          </a:p>
        </p:txBody>
      </p:sp>
      <p:sp>
        <p:nvSpPr>
          <p:cNvPr id="46" name="左中括号 45">
            <a:extLst>
              <a:ext uri="{FF2B5EF4-FFF2-40B4-BE49-F238E27FC236}">
                <a16:creationId xmlns:a16="http://schemas.microsoft.com/office/drawing/2014/main" id="{202BA6A0-E6A2-DBD5-9ACB-15AB40B0FB0C}"/>
              </a:ext>
            </a:extLst>
          </p:cNvPr>
          <p:cNvSpPr/>
          <p:nvPr/>
        </p:nvSpPr>
        <p:spPr>
          <a:xfrm>
            <a:off x="3320280" y="5083832"/>
            <a:ext cx="244928" cy="1611041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7" name="左中括号 46">
            <a:extLst>
              <a:ext uri="{FF2B5EF4-FFF2-40B4-BE49-F238E27FC236}">
                <a16:creationId xmlns:a16="http://schemas.microsoft.com/office/drawing/2014/main" id="{ADC157BD-5D18-B3BC-1635-FA8A9B56ECE8}"/>
              </a:ext>
            </a:extLst>
          </p:cNvPr>
          <p:cNvSpPr/>
          <p:nvPr/>
        </p:nvSpPr>
        <p:spPr>
          <a:xfrm flipH="1">
            <a:off x="4593936" y="5083832"/>
            <a:ext cx="244928" cy="1611041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7628940-30DA-780C-3C5A-F367A78008DA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3499962" y="5083831"/>
            <a:ext cx="713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w11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7480F21-5EBB-99E2-858A-6178CB64F4BA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3499962" y="5578494"/>
            <a:ext cx="713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w12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D341B2E-F815-6F1D-62C6-5B29ACB372E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3499962" y="6154797"/>
            <a:ext cx="713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w13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AE84937-0EC2-4E01-5F36-AC52C8680637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4067713" y="5083831"/>
            <a:ext cx="713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w21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037D892-9D7B-C71B-2C45-9EAE008608B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4067713" y="5578494"/>
            <a:ext cx="713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w22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637560E-9FD7-DF54-F7E8-B91367DBAFC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4067713" y="6154797"/>
            <a:ext cx="713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w23</a:t>
            </a:r>
          </a:p>
        </p:txBody>
      </p:sp>
      <p:sp>
        <p:nvSpPr>
          <p:cNvPr id="58" name="左中括号 57">
            <a:extLst>
              <a:ext uri="{FF2B5EF4-FFF2-40B4-BE49-F238E27FC236}">
                <a16:creationId xmlns:a16="http://schemas.microsoft.com/office/drawing/2014/main" id="{1BDEAF29-7CA7-E307-491D-243D2CB6277A}"/>
              </a:ext>
            </a:extLst>
          </p:cNvPr>
          <p:cNvSpPr/>
          <p:nvPr/>
        </p:nvSpPr>
        <p:spPr>
          <a:xfrm>
            <a:off x="860108" y="5594698"/>
            <a:ext cx="244928" cy="560099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59" name="左中括号 58">
            <a:extLst>
              <a:ext uri="{FF2B5EF4-FFF2-40B4-BE49-F238E27FC236}">
                <a16:creationId xmlns:a16="http://schemas.microsoft.com/office/drawing/2014/main" id="{D2C2F975-685F-087B-9B84-B7B988F9437F}"/>
              </a:ext>
            </a:extLst>
          </p:cNvPr>
          <p:cNvSpPr/>
          <p:nvPr/>
        </p:nvSpPr>
        <p:spPr>
          <a:xfrm flipH="1">
            <a:off x="2817775" y="5578494"/>
            <a:ext cx="244928" cy="560099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F8F589A-626E-35E1-8DBE-CE21D61FE332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1052804" y="5690597"/>
            <a:ext cx="606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X01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7F82A19-57A3-0CC9-B435-F2F7B473F748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2514494" y="5690597"/>
            <a:ext cx="748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X03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4E8B209-73E3-FF73-9B17-B92348E2FA1D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830332" y="5690597"/>
            <a:ext cx="7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X02</a:t>
            </a:r>
          </a:p>
        </p:txBody>
      </p:sp>
      <p:sp>
        <p:nvSpPr>
          <p:cNvPr id="65" name="左中括号 64">
            <a:extLst>
              <a:ext uri="{FF2B5EF4-FFF2-40B4-BE49-F238E27FC236}">
                <a16:creationId xmlns:a16="http://schemas.microsoft.com/office/drawing/2014/main" id="{638BC3D2-8324-1759-5E6A-2336037E7492}"/>
              </a:ext>
            </a:extLst>
          </p:cNvPr>
          <p:cNvSpPr/>
          <p:nvPr/>
        </p:nvSpPr>
        <p:spPr>
          <a:xfrm>
            <a:off x="6079482" y="5594698"/>
            <a:ext cx="244928" cy="464199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66" name="左中括号 65">
            <a:extLst>
              <a:ext uri="{FF2B5EF4-FFF2-40B4-BE49-F238E27FC236}">
                <a16:creationId xmlns:a16="http://schemas.microsoft.com/office/drawing/2014/main" id="{9B26A0F8-A252-4005-E922-0B641D56A29B}"/>
              </a:ext>
            </a:extLst>
          </p:cNvPr>
          <p:cNvSpPr/>
          <p:nvPr/>
        </p:nvSpPr>
        <p:spPr>
          <a:xfrm flipH="1">
            <a:off x="7353138" y="5594698"/>
            <a:ext cx="244928" cy="464199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5996871-7364-321A-18C2-0A4C85CE7BED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6934792" y="5690597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b2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4C52323-C899-0FBD-EC89-8A522A18F838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6250631" y="5690597"/>
            <a:ext cx="492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b1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C043752-7C6B-5FA4-9588-D015EFC743EE}"/>
              </a:ext>
            </a:extLst>
          </p:cNvPr>
          <p:cNvSpPr txBox="1"/>
          <p:nvPr/>
        </p:nvSpPr>
        <p:spPr>
          <a:xfrm>
            <a:off x="5304783" y="5673877"/>
            <a:ext cx="49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SG" dirty="0"/>
              <a:t>+</a:t>
            </a:r>
            <a:endParaRPr kumimoji="1" lang="zh-SG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D01DF1D-8E73-CEAE-996B-12B262E729B8}"/>
              </a:ext>
            </a:extLst>
          </p:cNvPr>
          <p:cNvSpPr txBox="1"/>
          <p:nvPr/>
        </p:nvSpPr>
        <p:spPr>
          <a:xfrm>
            <a:off x="7953521" y="5673877"/>
            <a:ext cx="49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=</a:t>
            </a:r>
            <a:endParaRPr kumimoji="1" lang="zh-SG" altLang="en-US" dirty="0"/>
          </a:p>
        </p:txBody>
      </p:sp>
      <p:sp>
        <p:nvSpPr>
          <p:cNvPr id="80" name="左中括号 79">
            <a:extLst>
              <a:ext uri="{FF2B5EF4-FFF2-40B4-BE49-F238E27FC236}">
                <a16:creationId xmlns:a16="http://schemas.microsoft.com/office/drawing/2014/main" id="{CD5FF1AD-1AB5-546D-C9C7-0045536DC9BE}"/>
              </a:ext>
            </a:extLst>
          </p:cNvPr>
          <p:cNvSpPr/>
          <p:nvPr/>
        </p:nvSpPr>
        <p:spPr>
          <a:xfrm>
            <a:off x="8576133" y="5594698"/>
            <a:ext cx="244928" cy="464199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81" name="左中括号 80">
            <a:extLst>
              <a:ext uri="{FF2B5EF4-FFF2-40B4-BE49-F238E27FC236}">
                <a16:creationId xmlns:a16="http://schemas.microsoft.com/office/drawing/2014/main" id="{B15B14E6-D36E-AC8F-5429-DAAFE8D8AA04}"/>
              </a:ext>
            </a:extLst>
          </p:cNvPr>
          <p:cNvSpPr/>
          <p:nvPr/>
        </p:nvSpPr>
        <p:spPr>
          <a:xfrm flipH="1">
            <a:off x="9849789" y="5594698"/>
            <a:ext cx="244928" cy="464199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AB6EF93-E028-8122-3777-D34EF9923C61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9431443" y="5690597"/>
            <a:ext cx="663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x12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223A48DB-A52E-D61D-12FE-AA65C5C7514C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8747282" y="5690597"/>
            <a:ext cx="680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x11</a:t>
            </a: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B93794C9-EF42-F465-813F-B386DF6C8B25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967583" y="37569"/>
            <a:ext cx="5374005" cy="249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44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-613388" y="146049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2.2   </a:t>
            </a:r>
            <a:r>
              <a:rPr lang="zh-SG" altLang="en-US" sz="2400" dirty="0">
                <a:sym typeface="+mn-ea"/>
              </a:rPr>
              <a:t>损失函数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971405F8-93EF-373D-C710-8597A0F82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04352"/>
            <a:ext cx="4640610" cy="40580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17649E1-612A-8736-6B4F-412106A34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26" y="1804352"/>
            <a:ext cx="3825124" cy="378959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5352490-DE32-E953-DF07-4A90598046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147"/>
          <a:stretch/>
        </p:blipFill>
        <p:spPr>
          <a:xfrm>
            <a:off x="5302707" y="0"/>
            <a:ext cx="6889293" cy="15092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7A3D49BC-86CA-2127-764F-A932CFCF13BC}"/>
                  </a:ext>
                </a:extLst>
              </p14:cNvPr>
              <p14:cNvContentPartPr/>
              <p14:nvPr/>
            </p14:nvContentPartPr>
            <p14:xfrm>
              <a:off x="1559040" y="2775730"/>
              <a:ext cx="360" cy="16452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7A3D49BC-86CA-2127-764F-A932CFCF13B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41400" y="2668090"/>
                <a:ext cx="36000" cy="38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0400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-613388" y="146049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2.3   </a:t>
            </a:r>
            <a:r>
              <a:rPr lang="zh-SG" altLang="en-US" sz="2400" dirty="0">
                <a:sym typeface="+mn-ea"/>
              </a:rPr>
              <a:t>梯度下降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90CD6D2-D3F9-3DBE-CACB-1E5AA8EC5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3" y="959523"/>
            <a:ext cx="5542617" cy="310630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0562C76-4911-8093-C6AD-9B3C78F4C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374" y="959523"/>
            <a:ext cx="5810190" cy="28881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87B16AA9-8CCC-A731-1E13-FD49895989CF}"/>
                  </a:ext>
                </a:extLst>
              </p14:cNvPr>
              <p14:cNvContentPartPr/>
              <p14:nvPr/>
            </p14:nvContentPartPr>
            <p14:xfrm>
              <a:off x="3545280" y="4216865"/>
              <a:ext cx="360" cy="3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87B16AA9-8CCC-A731-1E13-FD49895989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36640" y="420822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8" name="图片 27">
            <a:extLst>
              <a:ext uri="{FF2B5EF4-FFF2-40B4-BE49-F238E27FC236}">
                <a16:creationId xmlns:a16="http://schemas.microsoft.com/office/drawing/2014/main" id="{46FBCC5A-8BD1-0EF9-10A0-3DB8B55BA1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643" y="4368265"/>
            <a:ext cx="5051109" cy="785728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AB9E971C-B029-153C-38B1-D329B7111F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643" y="5325814"/>
            <a:ext cx="1447800" cy="266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6" name="墨迹 165">
                <a:extLst>
                  <a:ext uri="{FF2B5EF4-FFF2-40B4-BE49-F238E27FC236}">
                    <a16:creationId xmlns:a16="http://schemas.microsoft.com/office/drawing/2014/main" id="{17E1783A-2E85-45AF-83BE-A2CFEB0C729E}"/>
                  </a:ext>
                </a:extLst>
              </p14:cNvPr>
              <p14:cNvContentPartPr/>
              <p14:nvPr/>
            </p14:nvContentPartPr>
            <p14:xfrm>
              <a:off x="9309120" y="6003130"/>
              <a:ext cx="14040" cy="20160"/>
            </p14:xfrm>
          </p:contentPart>
        </mc:Choice>
        <mc:Fallback xmlns="">
          <p:pic>
            <p:nvPicPr>
              <p:cNvPr id="166" name="墨迹 165">
                <a:extLst>
                  <a:ext uri="{FF2B5EF4-FFF2-40B4-BE49-F238E27FC236}">
                    <a16:creationId xmlns:a16="http://schemas.microsoft.com/office/drawing/2014/main" id="{17E1783A-2E85-45AF-83BE-A2CFEB0C729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94000" y="5987650"/>
                <a:ext cx="44280" cy="5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1714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-613388" y="146049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2.1   </a:t>
            </a:r>
            <a:r>
              <a:rPr lang="zh-SG" altLang="en-US" sz="2400" dirty="0">
                <a:sym typeface="+mn-ea"/>
              </a:rPr>
              <a:t>神经网络结构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AE81F53-6F2F-724F-7622-4470E4A3B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21" y="1120196"/>
            <a:ext cx="10271732" cy="52251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10FD9FDC-54DC-8CF2-C9E6-434C25FAB179}"/>
                  </a:ext>
                </a:extLst>
              </p14:cNvPr>
              <p14:cNvContentPartPr/>
              <p14:nvPr/>
            </p14:nvContentPartPr>
            <p14:xfrm>
              <a:off x="1533840" y="3321490"/>
              <a:ext cx="360" cy="36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10FD9FDC-54DC-8CF2-C9E6-434C25FAB17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25200" y="331285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4076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-613388" y="146049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2.1   </a:t>
            </a:r>
            <a:r>
              <a:rPr lang="zh-SG" altLang="en-US" sz="2400" dirty="0">
                <a:sym typeface="+mn-ea"/>
              </a:rPr>
              <a:t>神经网络结构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B3C656B-0E3B-6036-F338-65669E2A1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330" y="1230648"/>
            <a:ext cx="8847340" cy="494169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D9F5146-545F-F243-96B0-864997B21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994" y="0"/>
            <a:ext cx="4472806" cy="13305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C25A637-3CF6-E1B0-EA1B-13AC8A725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498" y="5409184"/>
            <a:ext cx="2705160" cy="13169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4B4AB052-971A-0D7D-2573-E13837AC7730}"/>
                  </a:ext>
                </a:extLst>
              </p14:cNvPr>
              <p14:cNvContentPartPr/>
              <p14:nvPr/>
            </p14:nvContentPartPr>
            <p14:xfrm>
              <a:off x="11482800" y="1404490"/>
              <a:ext cx="7200" cy="360"/>
            </p14:xfrm>
          </p:contentPart>
        </mc:Choice>
        <mc:Fallback xmlns=""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4B4AB052-971A-0D7D-2573-E13837AC773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1467680" y="1389370"/>
                <a:ext cx="3780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5466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FA3C8630-505C-5487-5D6F-9057FB167640}"/>
              </a:ext>
            </a:extLst>
          </p:cNvPr>
          <p:cNvSpPr txBox="1"/>
          <p:nvPr/>
        </p:nvSpPr>
        <p:spPr>
          <a:xfrm>
            <a:off x="3753078" y="4929505"/>
            <a:ext cx="4685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SG" altLang="en-US" sz="2400" dirty="0">
                <a:latin typeface="Neo Sans Intel" panose="020B0504020202020204" pitchFamily="34" charset="0"/>
                <a:ea typeface="Segoe UI Symbol" panose="020B0502040204020203" pitchFamily="34" charset="0"/>
                <a:cs typeface="Segoe UI" panose="020B0502040204020203" pitchFamily="34" charset="0"/>
                <a:sym typeface="+mn-ea"/>
              </a:rPr>
              <a:t>搭建一个简单的神经网络并训练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1" name="直接连接符 62">
            <a:extLst>
              <a:ext uri="{FF2B5EF4-FFF2-40B4-BE49-F238E27FC236}">
                <a16:creationId xmlns:a16="http://schemas.microsoft.com/office/drawing/2014/main" id="{455A10FD-CEC7-C62C-2C37-D02087838156}"/>
              </a:ext>
            </a:extLst>
          </p:cNvPr>
          <p:cNvCxnSpPr/>
          <p:nvPr/>
        </p:nvCxnSpPr>
        <p:spPr>
          <a:xfrm>
            <a:off x="5047737" y="5551409"/>
            <a:ext cx="2172727" cy="10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336CB883-A6FB-0700-7F6B-19EBC817D192}"/>
              </a:ext>
            </a:extLst>
          </p:cNvPr>
          <p:cNvSpPr txBox="1"/>
          <p:nvPr/>
        </p:nvSpPr>
        <p:spPr>
          <a:xfrm>
            <a:off x="5257800" y="1613266"/>
            <a:ext cx="52959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9900" dirty="0"/>
              <a:t>3</a:t>
            </a:r>
            <a:endParaRPr kumimoji="1" lang="zh-SG" altLang="en-US" sz="19900" dirty="0"/>
          </a:p>
        </p:txBody>
      </p:sp>
    </p:spTree>
    <p:extLst>
      <p:ext uri="{BB962C8B-B14F-4D97-AF65-F5344CB8AC3E}">
        <p14:creationId xmlns:p14="http://schemas.microsoft.com/office/powerpoint/2010/main" val="2554812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-613388" y="146049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3.1</a:t>
            </a:r>
            <a:r>
              <a:rPr lang="zh-CN" altLang="en-US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 问题定义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3FACB0-0676-8FC2-E075-ED4FD4881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421" y="1133448"/>
            <a:ext cx="10271732" cy="522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5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-613388" y="146049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3.1</a:t>
            </a:r>
            <a:r>
              <a:rPr lang="zh-CN" altLang="en-US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 问题定义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42A47B8-72F9-E1C6-495C-D235D9392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38" y="2267901"/>
            <a:ext cx="5137863" cy="232219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DC4DD3F-C3EA-004E-DE2C-3DE8A2522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55367"/>
            <a:ext cx="5851936" cy="232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617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DC038F7-95E4-D7DA-2636-375A3565196A}"/>
              </a:ext>
            </a:extLst>
          </p:cNvPr>
          <p:cNvSpPr/>
          <p:nvPr/>
        </p:nvSpPr>
        <p:spPr>
          <a:xfrm>
            <a:off x="0" y="0"/>
            <a:ext cx="5374005" cy="752475"/>
          </a:xfrm>
          <a:prstGeom prst="rect">
            <a:avLst/>
          </a:prstGeom>
          <a:solidFill>
            <a:srgbClr val="F9BF12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SG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D095FD-6CC9-F50F-52FE-9E162C626773}"/>
              </a:ext>
            </a:extLst>
          </p:cNvPr>
          <p:cNvSpPr txBox="1"/>
          <p:nvPr/>
        </p:nvSpPr>
        <p:spPr>
          <a:xfrm>
            <a:off x="-613388" y="146049"/>
            <a:ext cx="48133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3.2</a:t>
            </a:r>
            <a:r>
              <a:rPr lang="zh-CN" altLang="en-US" sz="2400" dirty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 步骤</a:t>
            </a:r>
            <a:endParaRPr lang="zh-CN" alt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7148EE-A148-B622-701E-079EFAE8CAF4}"/>
              </a:ext>
            </a:extLst>
          </p:cNvPr>
          <p:cNvSpPr txBox="1"/>
          <p:nvPr/>
        </p:nvSpPr>
        <p:spPr>
          <a:xfrm>
            <a:off x="510290" y="1108316"/>
            <a:ext cx="1117142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DataLoader自定义数据集加载，加载鸢尾花数据集，并将其划分为训练集和测试集。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nn.Module构造神经网络模型，对于这个问题，可以使用一个简单的多层感知器（MLP）模型。在输出层，可以使用 Softmax 激活函数将输出转换为概率分布。</a:t>
            </a:r>
          </a:p>
          <a:p>
            <a:endParaRPr lang="zh-CN" altLang="en-US" dirty="0"/>
          </a:p>
          <a:p>
            <a:r>
              <a:rPr lang="en-US" altLang="zh-CN" dirty="0"/>
              <a:t>3. </a:t>
            </a:r>
            <a:r>
              <a:rPr lang="zh-CN" altLang="en-US" dirty="0"/>
              <a:t>模型训练</a:t>
            </a:r>
          </a:p>
          <a:p>
            <a:pPr indent="457200"/>
            <a:r>
              <a:rPr lang="zh-CN" altLang="en-US" dirty="0"/>
              <a:t>选择一个适当的损失函数，例如交叉熵损失（Cross-Entropy Loss），用于衡量模型预测与实际标签之间的差异。</a:t>
            </a:r>
          </a:p>
          <a:p>
            <a:pPr indent="457200"/>
            <a:r>
              <a:rPr lang="zh-CN" altLang="en-US" dirty="0"/>
              <a:t>选择一个优化算法，例如随机梯度下降（SGD）或 Adam 等，用于更新神经网络的权重以最小化损失函数。</a:t>
            </a:r>
          </a:p>
          <a:p>
            <a:pPr indent="457200"/>
            <a:r>
              <a:rPr lang="zh-CN" altLang="en-US" dirty="0"/>
              <a:t>设置训练参数，如批量大小（Batch Size）、学习率（Learning Rate）和训练轮数（Epochs）等。</a:t>
            </a:r>
          </a:p>
          <a:p>
            <a:pPr indent="457200"/>
            <a:r>
              <a:rPr lang="zh-CN" altLang="en-US" dirty="0"/>
              <a:t>使用训练集数据进行训练，不断更新神经网络权重以最小化损失。</a:t>
            </a:r>
          </a:p>
          <a:p>
            <a:endParaRPr lang="zh-CN" altLang="en-US" dirty="0"/>
          </a:p>
          <a:p>
            <a:r>
              <a:rPr lang="en-US" altLang="zh-CN" dirty="0"/>
              <a:t>4. </a:t>
            </a:r>
            <a:r>
              <a:rPr lang="zh-CN" altLang="en-US" dirty="0"/>
              <a:t>模型评估</a:t>
            </a:r>
          </a:p>
          <a:p>
            <a:pPr indent="457200"/>
            <a:r>
              <a:rPr lang="zh-CN" altLang="en-US" dirty="0"/>
              <a:t>使用测试集数据对训练好的神经网络模型进行评估，计算分类准确率等指标。</a:t>
            </a:r>
          </a:p>
          <a:p>
            <a:pPr indent="457200"/>
            <a:r>
              <a:rPr lang="zh-CN" altLang="en-US" dirty="0"/>
              <a:t>如果性能不佳，可以尝试调整神经网络结构（如增加隐藏层节点数）、优化算法（如调整学习率）或训练参数</a:t>
            </a:r>
            <a:r>
              <a:rPr lang="en-US" altLang="zh-CN" dirty="0"/>
              <a:t>   </a:t>
            </a:r>
            <a:r>
              <a:rPr lang="zh-CN" altLang="en-US" dirty="0"/>
              <a:t>（如增加训练轮数）等，以提高模型性能。</a:t>
            </a:r>
          </a:p>
          <a:p>
            <a:endParaRPr lang="zh-CN" altLang="en-US" dirty="0"/>
          </a:p>
          <a:p>
            <a:r>
              <a:rPr lang="en-US" altLang="zh-CN" dirty="0"/>
              <a:t>5.</a:t>
            </a:r>
            <a:r>
              <a:rPr lang="zh-CN" altLang="en-US" dirty="0"/>
              <a:t>使用训练好的神经网络模型对新的鸢尾花数据进行分类预测。</a:t>
            </a:r>
          </a:p>
        </p:txBody>
      </p:sp>
    </p:spTree>
    <p:extLst>
      <p:ext uri="{BB962C8B-B14F-4D97-AF65-F5344CB8AC3E}">
        <p14:creationId xmlns:p14="http://schemas.microsoft.com/office/powerpoint/2010/main" val="35624688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960</Words>
  <Application>Microsoft Office PowerPoint</Application>
  <PresentationFormat>宽屏</PresentationFormat>
  <Paragraphs>153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Neo Sans Intel</vt:lpstr>
      <vt:lpstr>Aptos</vt:lpstr>
      <vt:lpstr>Aptos Display</vt:lpstr>
      <vt:lpstr>Arial</vt:lpstr>
      <vt:lpstr>Nirmala UI Semilight</vt:lpstr>
      <vt:lpstr>Segoe UI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PC</cp:lastModifiedBy>
  <cp:revision>13</cp:revision>
  <dcterms:created xsi:type="dcterms:W3CDTF">2025-01-21T09:21:51Z</dcterms:created>
  <dcterms:modified xsi:type="dcterms:W3CDTF">2026-03-24T09:06:55Z</dcterms:modified>
</cp:coreProperties>
</file>